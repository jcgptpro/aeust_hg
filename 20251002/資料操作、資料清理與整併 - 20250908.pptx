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1" r:id="rId2"/>
    <p:sldId id="257" r:id="rId3"/>
    <p:sldId id="258" r:id="rId4"/>
    <p:sldId id="259" r:id="rId5"/>
    <p:sldId id="273" r:id="rId6"/>
    <p:sldId id="261" r:id="rId7"/>
    <p:sldId id="262" r:id="rId8"/>
    <p:sldId id="274" r:id="rId9"/>
    <p:sldId id="275" r:id="rId10"/>
    <p:sldId id="276" r:id="rId11"/>
    <p:sldId id="266" r:id="rId12"/>
    <p:sldId id="267" r:id="rId13"/>
    <p:sldId id="277" r:id="rId14"/>
    <p:sldId id="278" r:id="rId15"/>
    <p:sldId id="279" r:id="rId16"/>
    <p:sldId id="280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766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3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37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93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16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42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46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48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001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35.png"/><Relationship Id="rId3" Type="http://schemas.openxmlformats.org/officeDocument/2006/relationships/image" Target="../media/image3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35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 rot="-900000">
            <a:off x="848962" y="459374"/>
            <a:ext cx="630938" cy="68145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7343775" y="1028700"/>
            <a:ext cx="428625" cy="4286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 rot="600000">
            <a:off x="1789181" y="3832294"/>
            <a:ext cx="579300" cy="579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 rot="-600000">
            <a:off x="7535724" y="3420924"/>
            <a:ext cx="744814" cy="74481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2109773" y="1639729"/>
            <a:ext cx="4924426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zh-TW" sz="3200" b="1" dirty="0" err="1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資料操作、資料清理與整併</a:t>
            </a:r>
            <a:endParaRPr lang="en-US" altLang="zh-TW" sz="3200" dirty="0"/>
          </a:p>
        </p:txBody>
      </p:sp>
      <p:sp>
        <p:nvSpPr>
          <p:cNvPr id="9" name="Text 2"/>
          <p:cNvSpPr/>
          <p:nvPr/>
        </p:nvSpPr>
        <p:spPr>
          <a:xfrm>
            <a:off x="3302407" y="2361813"/>
            <a:ext cx="2539157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zh-TW" dirty="0" err="1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從資料到洞見的關鍵步驟</a:t>
            </a:r>
            <a:endParaRPr lang="en-US" altLang="zh-TW" dirty="0"/>
          </a:p>
        </p:txBody>
      </p:sp>
      <p:sp>
        <p:nvSpPr>
          <p:cNvPr id="10" name="Shape 3"/>
          <p:cNvSpPr/>
          <p:nvPr/>
        </p:nvSpPr>
        <p:spPr>
          <a:xfrm>
            <a:off x="3443288" y="3386138"/>
            <a:ext cx="571500" cy="571500"/>
          </a:xfrm>
          <a:prstGeom prst="ellipse">
            <a:avLst/>
          </a:prstGeom>
          <a:solidFill>
            <a:srgbClr val="ECF0F1"/>
          </a:solidFill>
          <a:ln/>
        </p:spPr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4022" y="3529013"/>
            <a:ext cx="250031" cy="2857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157663" y="3568014"/>
            <a:ext cx="1186222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50" b="1" dirty="0" err="1" smtClea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講師</a:t>
            </a:r>
            <a:r>
              <a:rPr lang="zh-TW" altLang="en-US" sz="1350" b="1" dirty="0" smtClea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</a:t>
            </a:r>
            <a:r>
              <a:rPr lang="en-US" altLang="zh-TW" sz="1350" b="1" dirty="0" smtClean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JC Wang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13370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5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1196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為什麼需要資料操作？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712709"/>
            <a:ext cx="4179094" cy="1351536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712709"/>
            <a:ext cx="28575" cy="1351536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862727"/>
            <a:ext cx="128588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2931" y="819865"/>
            <a:ext cx="22288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從資料到資訊，從資訊到決策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92906" y="1162765"/>
            <a:ext cx="38576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原始資料本身沒有價值，必須經過處理、分析和解釋，才能轉化為有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392906" y="1368482"/>
            <a:ext cx="16716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意義的資訊，進而支持決策。 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92906" y="1631350"/>
            <a:ext cx="3964781" cy="3257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7"/>
          <p:cNvSpPr/>
          <p:nvPr/>
        </p:nvSpPr>
        <p:spPr>
          <a:xfrm>
            <a:off x="392906" y="1631350"/>
            <a:ext cx="3964781" cy="3257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例如：銷售交易紀錄 → 客戶購買模式分析 → 個人化行銷策略 </a:t>
            </a:r>
            <a:endParaRPr lang="en-US" sz="837" dirty="0"/>
          </a:p>
        </p:txBody>
      </p:sp>
      <p:sp>
        <p:nvSpPr>
          <p:cNvPr id="12" name="Shape 8"/>
          <p:cNvSpPr/>
          <p:nvPr/>
        </p:nvSpPr>
        <p:spPr>
          <a:xfrm>
            <a:off x="285750" y="2207120"/>
            <a:ext cx="4179094" cy="1351536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3" name="Shape 9"/>
          <p:cNvSpPr/>
          <p:nvPr/>
        </p:nvSpPr>
        <p:spPr>
          <a:xfrm>
            <a:off x="285750" y="2207120"/>
            <a:ext cx="28575" cy="1351536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357138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794" y="2314276"/>
            <a:ext cx="28289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不能只看「表」，要懂得「操作」資料 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92906" y="2657176"/>
            <a:ext cx="38576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單純查看資料表格無法發現深層洞見，需要透過篩選、排序、分組、</a:t>
            </a:r>
            <a:endParaRPr lang="en-US" sz="942" dirty="0"/>
          </a:p>
        </p:txBody>
      </p:sp>
      <p:sp>
        <p:nvSpPr>
          <p:cNvPr id="17" name="Text 12"/>
          <p:cNvSpPr/>
          <p:nvPr/>
        </p:nvSpPr>
        <p:spPr>
          <a:xfrm>
            <a:off x="392906" y="2862894"/>
            <a:ext cx="14144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計算等操作來挖掘價值。 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392906" y="3125761"/>
            <a:ext cx="3964781" cy="3257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4"/>
          <p:cNvSpPr/>
          <p:nvPr/>
        </p:nvSpPr>
        <p:spPr>
          <a:xfrm>
            <a:off x="392906" y="3125761"/>
            <a:ext cx="3964781" cy="3257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例如：不只是看交易記錄，而是分析哪些商品經常被一起購買 </a:t>
            </a:r>
            <a:endParaRPr lang="en-US" sz="837" dirty="0"/>
          </a:p>
        </p:txBody>
      </p:sp>
      <p:sp>
        <p:nvSpPr>
          <p:cNvPr id="20" name="Shape 15"/>
          <p:cNvSpPr/>
          <p:nvPr/>
        </p:nvSpPr>
        <p:spPr>
          <a:xfrm>
            <a:off x="285750" y="3701531"/>
            <a:ext cx="4179094" cy="1351536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1" name="Shape 16"/>
          <p:cNvSpPr/>
          <p:nvPr/>
        </p:nvSpPr>
        <p:spPr>
          <a:xfrm>
            <a:off x="285750" y="3701531"/>
            <a:ext cx="28575" cy="1351536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3851549"/>
            <a:ext cx="128588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2931" y="3808687"/>
            <a:ext cx="2057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資料操作是發現洞見的關鍵 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392906" y="4151587"/>
            <a:ext cx="38576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透過適當的資料操作，可以發現隱藏在資料中的模式、趨勢和關聯，</a:t>
            </a:r>
            <a:endParaRPr lang="en-US" sz="942" dirty="0"/>
          </a:p>
        </p:txBody>
      </p:sp>
      <p:sp>
        <p:nvSpPr>
          <p:cNvPr id="25" name="Text 19"/>
          <p:cNvSpPr/>
          <p:nvPr/>
        </p:nvSpPr>
        <p:spPr>
          <a:xfrm>
            <a:off x="392906" y="4357305"/>
            <a:ext cx="19288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這些都是單純看表格難以察覺的。 </a:t>
            </a:r>
            <a:endParaRPr lang="en-US" sz="942" dirty="0"/>
          </a:p>
        </p:txBody>
      </p:sp>
      <p:sp>
        <p:nvSpPr>
          <p:cNvPr id="26" name="Shape 20"/>
          <p:cNvSpPr/>
          <p:nvPr/>
        </p:nvSpPr>
        <p:spPr>
          <a:xfrm>
            <a:off x="392906" y="4620172"/>
            <a:ext cx="3964781" cy="3257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Text 21"/>
          <p:cNvSpPr/>
          <p:nvPr/>
        </p:nvSpPr>
        <p:spPr>
          <a:xfrm>
            <a:off x="392906" y="4620172"/>
            <a:ext cx="3964781" cy="3257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例如：透過分組和統計，發現特定年齡層的消費習慣 </a:t>
            </a:r>
            <a:endParaRPr lang="en-US" sz="837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56" y="1326206"/>
            <a:ext cx="4179094" cy="32562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158163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常見資料操作方式比較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829676"/>
            <a:ext cx="672405" cy="36433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829676"/>
            <a:ext cx="672405" cy="36433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特性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958155" y="829676"/>
            <a:ext cx="1405979" cy="36433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/>
          <p:nvPr/>
        </p:nvSpPr>
        <p:spPr>
          <a:xfrm>
            <a:off x="958155" y="829676"/>
            <a:ext cx="1405979" cy="36433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2364135" y="829676"/>
            <a:ext cx="2100709" cy="36433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6"/>
          <p:cNvSpPr/>
          <p:nvPr/>
        </p:nvSpPr>
        <p:spPr>
          <a:xfrm>
            <a:off x="2364135" y="829676"/>
            <a:ext cx="2100709" cy="36433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(Pandas)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285750" y="1194007"/>
            <a:ext cx="672405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學習曲線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958155" y="1194007"/>
            <a:ext cx="1405979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較陡峭，但語法簡潔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2364135" y="1194007"/>
            <a:ext cx="2100709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較平緩，語法靈活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285750" y="1540479"/>
            <a:ext cx="4179094" cy="35004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1"/>
          <p:cNvSpPr/>
          <p:nvPr/>
        </p:nvSpPr>
        <p:spPr>
          <a:xfrm>
            <a:off x="285750" y="1540479"/>
            <a:ext cx="672405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資料來源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958155" y="1540479"/>
            <a:ext cx="140597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主要用於關聯式資料庫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2364135" y="1540479"/>
            <a:ext cx="210070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可處理多種資料格式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285750" y="1890522"/>
            <a:ext cx="672405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處理能力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958155" y="1890522"/>
            <a:ext cx="140597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適合大量資料查詢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2364135" y="1890522"/>
            <a:ext cx="210070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適合中小型資料集分析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285750" y="2240566"/>
            <a:ext cx="4179094" cy="35004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8"/>
          <p:cNvSpPr/>
          <p:nvPr/>
        </p:nvSpPr>
        <p:spPr>
          <a:xfrm>
            <a:off x="285750" y="2240566"/>
            <a:ext cx="672405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靈活性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958155" y="2240566"/>
            <a:ext cx="140597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較受限於SQL語法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2364135" y="2240566"/>
            <a:ext cx="210070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高度客製化，可結合其他Python庫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285750" y="2590610"/>
            <a:ext cx="672405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視覺化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958155" y="2590610"/>
            <a:ext cx="140597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需搭配其他工具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2364135" y="2590610"/>
            <a:ext cx="210070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可直接整合matplotlib、seaborn等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285750" y="3158538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什麼時候用SQL？</a:t>
            </a:r>
            <a:endParaRPr lang="en-US" sz="135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551444"/>
            <a:ext cx="114300" cy="1143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71488" y="3522869"/>
            <a:ext cx="1485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當資料存儲在關聯式資料庫中</a:t>
            </a:r>
            <a:endParaRPr lang="en-US" sz="837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794332"/>
            <a:ext cx="114300" cy="1143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71488" y="3765757"/>
            <a:ext cx="1600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需要處理大量資料且效能是關鍵</a:t>
            </a:r>
            <a:endParaRPr lang="en-US" sz="837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4037219"/>
            <a:ext cx="114300" cy="1143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71488" y="4008644"/>
            <a:ext cx="1600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進行標準的資料查詢和彙總操作</a:t>
            </a:r>
            <a:endParaRPr lang="en-US" sz="837" dirty="0"/>
          </a:p>
        </p:txBody>
      </p:sp>
      <p:sp>
        <p:nvSpPr>
          <p:cNvPr id="34" name="Text 28"/>
          <p:cNvSpPr/>
          <p:nvPr/>
        </p:nvSpPr>
        <p:spPr>
          <a:xfrm>
            <a:off x="2428876" y="3183251"/>
            <a:ext cx="2250280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什麼時候用Python？</a:t>
            </a:r>
            <a:endParaRPr lang="en-US" sz="13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76" y="3551444"/>
            <a:ext cx="61546" cy="1143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614614" y="3479777"/>
            <a:ext cx="738553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需要複雜的資料轉換和清理</a:t>
            </a:r>
            <a:endParaRPr lang="en-US" sz="837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76" y="3794332"/>
            <a:ext cx="61546" cy="1143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614614" y="3722665"/>
            <a:ext cx="923192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需要進行進階統計分析或機器學習</a:t>
            </a:r>
            <a:endParaRPr lang="en-US" sz="837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76" y="4037219"/>
            <a:ext cx="61546" cy="1143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2614614" y="3965552"/>
            <a:ext cx="738553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需要生成視覺化圖表和報告</a:t>
            </a:r>
            <a:endParaRPr lang="en-US" sz="837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735" y="1443592"/>
            <a:ext cx="4179094" cy="2350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-1336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常見資料操作類型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428616"/>
            <a:ext cx="4179094" cy="842935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428616"/>
            <a:ext cx="28575" cy="842935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550060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788" y="514341"/>
            <a:ext cx="14340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查詢（Select/Filter） 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371475" y="766158"/>
            <a:ext cx="2400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從資料集中選擇符合特定條件的資料列或欄位。 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371475" y="960100"/>
            <a:ext cx="4007644" cy="22572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0" name="Text 6"/>
          <p:cNvSpPr/>
          <p:nvPr/>
        </p:nvSpPr>
        <p:spPr>
          <a:xfrm>
            <a:off x="371475" y="960100"/>
            <a:ext cx="4007644" cy="225726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SQL: SELECT * FROM customers WHERE age &gt; 30 </a:t>
            </a:r>
            <a:endParaRPr lang="en-US" sz="732" dirty="0"/>
          </a:p>
        </p:txBody>
      </p:sp>
      <p:sp>
        <p:nvSpPr>
          <p:cNvPr id="11" name="Shape 7"/>
          <p:cNvSpPr/>
          <p:nvPr/>
        </p:nvSpPr>
        <p:spPr>
          <a:xfrm>
            <a:off x="285750" y="1357276"/>
            <a:ext cx="4179094" cy="842935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2" name="Shape 8"/>
          <p:cNvSpPr/>
          <p:nvPr/>
        </p:nvSpPr>
        <p:spPr>
          <a:xfrm>
            <a:off x="285750" y="1357276"/>
            <a:ext cx="28575" cy="842935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1478719"/>
            <a:ext cx="160734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647" y="1443001"/>
            <a:ext cx="8655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排序（Sort） </a:t>
            </a:r>
            <a:endParaRPr lang="en-US" sz="1046" dirty="0"/>
          </a:p>
        </p:txBody>
      </p:sp>
      <p:sp>
        <p:nvSpPr>
          <p:cNvPr id="15" name="Text 10"/>
          <p:cNvSpPr/>
          <p:nvPr/>
        </p:nvSpPr>
        <p:spPr>
          <a:xfrm>
            <a:off x="371475" y="1694818"/>
            <a:ext cx="2171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根據一個或多個欄位的值對資料進行排序。 </a:t>
            </a:r>
            <a:endParaRPr lang="en-US" sz="837" dirty="0"/>
          </a:p>
        </p:txBody>
      </p:sp>
      <p:sp>
        <p:nvSpPr>
          <p:cNvPr id="16" name="Shape 11"/>
          <p:cNvSpPr/>
          <p:nvPr/>
        </p:nvSpPr>
        <p:spPr>
          <a:xfrm>
            <a:off x="371475" y="1888759"/>
            <a:ext cx="4007644" cy="22572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7" name="Text 12"/>
          <p:cNvSpPr/>
          <p:nvPr/>
        </p:nvSpPr>
        <p:spPr>
          <a:xfrm>
            <a:off x="371475" y="1888759"/>
            <a:ext cx="4007644" cy="225726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SQL: SELECT * FROM products ORDER BY price DESC </a:t>
            </a:r>
            <a:endParaRPr lang="en-US" sz="732" dirty="0"/>
          </a:p>
        </p:txBody>
      </p:sp>
      <p:sp>
        <p:nvSpPr>
          <p:cNvPr id="18" name="Shape 13"/>
          <p:cNvSpPr/>
          <p:nvPr/>
        </p:nvSpPr>
        <p:spPr>
          <a:xfrm>
            <a:off x="285750" y="2285935"/>
            <a:ext cx="4179094" cy="842935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9" name="Shape 14"/>
          <p:cNvSpPr/>
          <p:nvPr/>
        </p:nvSpPr>
        <p:spPr>
          <a:xfrm>
            <a:off x="285750" y="2285935"/>
            <a:ext cx="28575" cy="842935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" y="2407379"/>
            <a:ext cx="160734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3647" y="2371660"/>
            <a:ext cx="117857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統計（Groupby） </a:t>
            </a:r>
            <a:endParaRPr lang="en-US" sz="1046" dirty="0"/>
          </a:p>
        </p:txBody>
      </p:sp>
      <p:sp>
        <p:nvSpPr>
          <p:cNvPr id="22" name="Text 16"/>
          <p:cNvSpPr/>
          <p:nvPr/>
        </p:nvSpPr>
        <p:spPr>
          <a:xfrm>
            <a:off x="371475" y="2623477"/>
            <a:ext cx="2743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根據一個或多個欄位對資料進行分組，並計算統計值。 </a:t>
            </a:r>
            <a:endParaRPr lang="en-US" sz="837" dirty="0"/>
          </a:p>
        </p:txBody>
      </p:sp>
      <p:sp>
        <p:nvSpPr>
          <p:cNvPr id="23" name="Shape 17"/>
          <p:cNvSpPr/>
          <p:nvPr/>
        </p:nvSpPr>
        <p:spPr>
          <a:xfrm>
            <a:off x="371475" y="2817419"/>
            <a:ext cx="4007644" cy="22572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4" name="Text 18"/>
          <p:cNvSpPr/>
          <p:nvPr/>
        </p:nvSpPr>
        <p:spPr>
          <a:xfrm>
            <a:off x="371475" y="2817419"/>
            <a:ext cx="4007644" cy="225726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SQL: SELECT category, AVG(price) FROM products GROUP BY category </a:t>
            </a:r>
            <a:endParaRPr lang="en-US" sz="732" dirty="0"/>
          </a:p>
        </p:txBody>
      </p:sp>
      <p:sp>
        <p:nvSpPr>
          <p:cNvPr id="25" name="Shape 19"/>
          <p:cNvSpPr/>
          <p:nvPr/>
        </p:nvSpPr>
        <p:spPr>
          <a:xfrm>
            <a:off x="285750" y="3214595"/>
            <a:ext cx="4179094" cy="982935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6" name="Shape 20"/>
          <p:cNvSpPr/>
          <p:nvPr/>
        </p:nvSpPr>
        <p:spPr>
          <a:xfrm>
            <a:off x="285750" y="3214595"/>
            <a:ext cx="28575" cy="982935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475" y="3336039"/>
            <a:ext cx="178594" cy="1428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21506" y="3300320"/>
            <a:ext cx="8446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關聯（Join） </a:t>
            </a:r>
            <a:endParaRPr lang="en-US" sz="1046" dirty="0"/>
          </a:p>
        </p:txBody>
      </p:sp>
      <p:sp>
        <p:nvSpPr>
          <p:cNvPr id="29" name="Text 22"/>
          <p:cNvSpPr/>
          <p:nvPr/>
        </p:nvSpPr>
        <p:spPr>
          <a:xfrm>
            <a:off x="371475" y="3552137"/>
            <a:ext cx="2057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將兩個或多個資料表根據共同欄位合併。 </a:t>
            </a:r>
            <a:endParaRPr lang="en-US" sz="837" dirty="0"/>
          </a:p>
        </p:txBody>
      </p:sp>
      <p:sp>
        <p:nvSpPr>
          <p:cNvPr id="30" name="Shape 23"/>
          <p:cNvSpPr/>
          <p:nvPr/>
        </p:nvSpPr>
        <p:spPr>
          <a:xfrm>
            <a:off x="371475" y="3746079"/>
            <a:ext cx="4007644" cy="365727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1" name="Text 24"/>
          <p:cNvSpPr/>
          <p:nvPr/>
        </p:nvSpPr>
        <p:spPr>
          <a:xfrm>
            <a:off x="371475" y="3746079"/>
            <a:ext cx="4007644" cy="3657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SQL: SELECT * FROM orders JOIN customers ON orders.customer_id = customers.id </a:t>
            </a:r>
            <a:endParaRPr lang="en-US" sz="732" dirty="0"/>
          </a:p>
        </p:txBody>
      </p:sp>
      <p:sp>
        <p:nvSpPr>
          <p:cNvPr id="32" name="Shape 25"/>
          <p:cNvSpPr/>
          <p:nvPr/>
        </p:nvSpPr>
        <p:spPr>
          <a:xfrm>
            <a:off x="285750" y="4283255"/>
            <a:ext cx="4179094" cy="842935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33" name="Shape 26"/>
          <p:cNvSpPr/>
          <p:nvPr/>
        </p:nvSpPr>
        <p:spPr>
          <a:xfrm>
            <a:off x="285750" y="4283255"/>
            <a:ext cx="28575" cy="842935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5" y="4404699"/>
            <a:ext cx="142875" cy="14287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85788" y="4368980"/>
            <a:ext cx="93655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轉置（Pivot） </a:t>
            </a:r>
            <a:endParaRPr lang="en-US" sz="1046" dirty="0"/>
          </a:p>
        </p:txBody>
      </p:sp>
      <p:sp>
        <p:nvSpPr>
          <p:cNvPr id="36" name="Text 28"/>
          <p:cNvSpPr/>
          <p:nvPr/>
        </p:nvSpPr>
        <p:spPr>
          <a:xfrm>
            <a:off x="371475" y="4620797"/>
            <a:ext cx="2171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重新組織資料，將行轉為列或將列轉為行。 </a:t>
            </a:r>
            <a:endParaRPr lang="en-US" sz="837" dirty="0"/>
          </a:p>
        </p:txBody>
      </p:sp>
      <p:sp>
        <p:nvSpPr>
          <p:cNvPr id="37" name="Shape 29"/>
          <p:cNvSpPr/>
          <p:nvPr/>
        </p:nvSpPr>
        <p:spPr>
          <a:xfrm>
            <a:off x="371475" y="4814739"/>
            <a:ext cx="4007644" cy="22572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8" name="Text 30"/>
          <p:cNvSpPr/>
          <p:nvPr/>
        </p:nvSpPr>
        <p:spPr>
          <a:xfrm>
            <a:off x="371475" y="4814739"/>
            <a:ext cx="4007644" cy="225726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Pandas: df.pivot(index='date', columns='category', values='sales') </a:t>
            </a:r>
            <a:endParaRPr lang="en-US" sz="732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2766" y="991465"/>
            <a:ext cx="3571875" cy="3571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221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83725"/>
            <a:ext cx="2718867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練習1：資料初探與觀察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748094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8638" y="705231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練習步驟 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285750" y="1033844"/>
            <a:ext cx="4013364" cy="2043113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392906" y="1141000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8" name="Text 4"/>
          <p:cNvSpPr/>
          <p:nvPr/>
        </p:nvSpPr>
        <p:spPr>
          <a:xfrm>
            <a:off x="392906" y="114100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692944" y="1141000"/>
            <a:ext cx="34990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開啟資料檔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692944" y="1355313"/>
            <a:ext cx="17114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 Excel 或 Google Colab 開啟 </a:t>
            </a:r>
            <a:endParaRPr lang="en-US" sz="837" dirty="0"/>
          </a:p>
        </p:txBody>
      </p:sp>
      <p:sp>
        <p:nvSpPr>
          <p:cNvPr id="11" name="Shape 7"/>
          <p:cNvSpPr/>
          <p:nvPr/>
        </p:nvSpPr>
        <p:spPr>
          <a:xfrm>
            <a:off x="2404374" y="1341025"/>
            <a:ext cx="929720" cy="1839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8"/>
          <p:cNvSpPr/>
          <p:nvPr/>
        </p:nvSpPr>
        <p:spPr>
          <a:xfrm>
            <a:off x="2404374" y="1341025"/>
            <a:ext cx="929720" cy="183952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transactions.csv</a:t>
            </a:r>
            <a:endParaRPr lang="en-US" sz="837" dirty="0"/>
          </a:p>
        </p:txBody>
      </p:sp>
      <p:sp>
        <p:nvSpPr>
          <p:cNvPr id="13" name="Text 9"/>
          <p:cNvSpPr/>
          <p:nvPr/>
        </p:nvSpPr>
        <p:spPr>
          <a:xfrm>
            <a:off x="3334094" y="1355313"/>
            <a:ext cx="2583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檔案</a:t>
            </a:r>
            <a:endParaRPr lang="en-US" sz="837" dirty="0"/>
          </a:p>
        </p:txBody>
      </p:sp>
      <p:sp>
        <p:nvSpPr>
          <p:cNvPr id="14" name="Shape 10"/>
          <p:cNvSpPr/>
          <p:nvPr/>
        </p:nvSpPr>
        <p:spPr>
          <a:xfrm>
            <a:off x="392906" y="1626775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5" name="Text 11"/>
          <p:cNvSpPr/>
          <p:nvPr/>
        </p:nvSpPr>
        <p:spPr>
          <a:xfrm>
            <a:off x="392906" y="162677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6" name="Text 12"/>
          <p:cNvSpPr/>
          <p:nvPr/>
        </p:nvSpPr>
        <p:spPr>
          <a:xfrm>
            <a:off x="692944" y="1626775"/>
            <a:ext cx="34990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觀察資料結構</a:t>
            </a:r>
            <a:endParaRPr lang="en-US" sz="837" dirty="0"/>
          </a:p>
        </p:txBody>
      </p:sp>
      <p:sp>
        <p:nvSpPr>
          <p:cNvPr id="17" name="Text 13"/>
          <p:cNvSpPr/>
          <p:nvPr/>
        </p:nvSpPr>
        <p:spPr>
          <a:xfrm>
            <a:off x="692944" y="1833944"/>
            <a:ext cx="34990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仔細觀察表格的欄位名稱、資料型別、資料筆數</a:t>
            </a:r>
            <a:endParaRPr lang="en-US" sz="837" dirty="0"/>
          </a:p>
        </p:txBody>
      </p:sp>
      <p:sp>
        <p:nvSpPr>
          <p:cNvPr id="18" name="Text 14"/>
          <p:cNvSpPr/>
          <p:nvPr/>
        </p:nvSpPr>
        <p:spPr>
          <a:xfrm>
            <a:off x="835819" y="2033969"/>
            <a:ext cx="33561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有哪些欄位？每個欄位代表什麼意義？</a:t>
            </a:r>
            <a:endParaRPr lang="en-US" sz="837" dirty="0"/>
          </a:p>
        </p:txBody>
      </p:sp>
      <p:sp>
        <p:nvSpPr>
          <p:cNvPr id="19" name="Text 15"/>
          <p:cNvSpPr/>
          <p:nvPr/>
        </p:nvSpPr>
        <p:spPr>
          <a:xfrm>
            <a:off x="835819" y="2205419"/>
            <a:ext cx="33561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每個欄位的資料型別是什麼？</a:t>
            </a:r>
            <a:endParaRPr lang="en-US" sz="837" dirty="0"/>
          </a:p>
        </p:txBody>
      </p:sp>
      <p:sp>
        <p:nvSpPr>
          <p:cNvPr id="20" name="Shape 16"/>
          <p:cNvSpPr/>
          <p:nvPr/>
        </p:nvSpPr>
        <p:spPr>
          <a:xfrm>
            <a:off x="392906" y="2484025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1" name="Text 17"/>
          <p:cNvSpPr/>
          <p:nvPr/>
        </p:nvSpPr>
        <p:spPr>
          <a:xfrm>
            <a:off x="392906" y="248402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22" name="Text 18"/>
          <p:cNvSpPr/>
          <p:nvPr/>
        </p:nvSpPr>
        <p:spPr>
          <a:xfrm>
            <a:off x="692944" y="2484025"/>
            <a:ext cx="34990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討論發現</a:t>
            </a:r>
            <a:endParaRPr lang="en-US" sz="837" dirty="0"/>
          </a:p>
        </p:txBody>
      </p:sp>
      <p:sp>
        <p:nvSpPr>
          <p:cNvPr id="23" name="Text 19"/>
          <p:cNvSpPr/>
          <p:nvPr/>
        </p:nvSpPr>
        <p:spPr>
          <a:xfrm>
            <a:off x="692944" y="2691194"/>
            <a:ext cx="34990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與小組成員討論哪個欄位看起來最重要？為什麼？</a:t>
            </a:r>
            <a:endParaRPr lang="en-US" sz="837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226975"/>
            <a:ext cx="128588" cy="1714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5775" y="3184113"/>
            <a:ext cx="342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提示 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285750" y="3512725"/>
            <a:ext cx="4013364" cy="1528763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392906" y="3619881"/>
            <a:ext cx="37990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 Excel 中，可以使用以下功能協助觀察：</a:t>
            </a:r>
            <a:endParaRPr lang="en-US" sz="837" dirty="0"/>
          </a:p>
        </p:txBody>
      </p:sp>
      <p:sp>
        <p:nvSpPr>
          <p:cNvPr id="28" name="Text 23"/>
          <p:cNvSpPr/>
          <p:nvPr/>
        </p:nvSpPr>
        <p:spPr>
          <a:xfrm>
            <a:off x="535781" y="3819906"/>
            <a:ext cx="36561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使用「排序」功能查看資料範圍</a:t>
            </a:r>
            <a:endParaRPr lang="en-US" sz="837" dirty="0"/>
          </a:p>
        </p:txBody>
      </p:sp>
      <p:sp>
        <p:nvSpPr>
          <p:cNvPr id="29" name="Text 24"/>
          <p:cNvSpPr/>
          <p:nvPr/>
        </p:nvSpPr>
        <p:spPr>
          <a:xfrm>
            <a:off x="535781" y="3991356"/>
            <a:ext cx="36561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使用「篩選」功能查看不同類別的資料</a:t>
            </a:r>
            <a:endParaRPr lang="en-US" sz="837" dirty="0"/>
          </a:p>
        </p:txBody>
      </p:sp>
      <p:sp>
        <p:nvSpPr>
          <p:cNvPr id="30" name="Text 25"/>
          <p:cNvSpPr/>
          <p:nvPr/>
        </p:nvSpPr>
        <p:spPr>
          <a:xfrm>
            <a:off x="392906" y="4191381"/>
            <a:ext cx="37990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 Python 中，可以使用以下指令：</a:t>
            </a:r>
            <a:endParaRPr lang="en-US" sz="837" dirty="0"/>
          </a:p>
        </p:txBody>
      </p:sp>
      <p:sp>
        <p:nvSpPr>
          <p:cNvPr id="31" name="Shape 26"/>
          <p:cNvSpPr/>
          <p:nvPr/>
        </p:nvSpPr>
        <p:spPr>
          <a:xfrm>
            <a:off x="392906" y="4391406"/>
            <a:ext cx="3799052" cy="54292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2" name="Text 27"/>
          <p:cNvSpPr/>
          <p:nvPr/>
        </p:nvSpPr>
        <p:spPr>
          <a:xfrm>
            <a:off x="450056" y="4452128"/>
            <a:ext cx="16194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df = pd.read_csv('transactions.csv')</a:t>
            </a:r>
            <a:endParaRPr lang="en-US" sz="732" dirty="0"/>
          </a:p>
        </p:txBody>
      </p:sp>
      <p:sp>
        <p:nvSpPr>
          <p:cNvPr id="33" name="Text 28"/>
          <p:cNvSpPr/>
          <p:nvPr/>
        </p:nvSpPr>
        <p:spPr>
          <a:xfrm>
            <a:off x="450056" y="4595003"/>
            <a:ext cx="12332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df.head() # 查看前幾筆資料</a:t>
            </a:r>
            <a:endParaRPr lang="en-US" sz="732" dirty="0"/>
          </a:p>
        </p:txBody>
      </p:sp>
      <p:sp>
        <p:nvSpPr>
          <p:cNvPr id="34" name="Text 29"/>
          <p:cNvSpPr/>
          <p:nvPr/>
        </p:nvSpPr>
        <p:spPr>
          <a:xfrm>
            <a:off x="450056" y="4737878"/>
            <a:ext cx="14800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df.info() # 查看資料型別和缺失值 </a:t>
            </a:r>
            <a:endParaRPr lang="en-US" sz="732" dirty="0"/>
          </a:p>
        </p:txBody>
      </p:sp>
      <p:sp>
        <p:nvSpPr>
          <p:cNvPr id="35" name="Shape 30"/>
          <p:cNvSpPr/>
          <p:nvPr/>
        </p:nvSpPr>
        <p:spPr>
          <a:xfrm>
            <a:off x="4441989" y="685290"/>
            <a:ext cx="4416261" cy="2407444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9146" y="835309"/>
            <a:ext cx="171450" cy="17145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792033" y="792447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資料預覽 </a:t>
            </a:r>
            <a:endParaRPr lang="en-US" sz="1350" dirty="0"/>
          </a:p>
        </p:txBody>
      </p:sp>
      <p:sp>
        <p:nvSpPr>
          <p:cNvPr id="38" name="Shape 32"/>
          <p:cNvSpPr/>
          <p:nvPr/>
        </p:nvSpPr>
        <p:spPr>
          <a:xfrm>
            <a:off x="4549146" y="1121059"/>
            <a:ext cx="825215" cy="2643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9" name="Text 33"/>
          <p:cNvSpPr/>
          <p:nvPr/>
        </p:nvSpPr>
        <p:spPr>
          <a:xfrm>
            <a:off x="4549146" y="1121059"/>
            <a:ext cx="82521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transaction_id</a:t>
            </a:r>
            <a:endParaRPr lang="en-US" sz="732" dirty="0"/>
          </a:p>
        </p:txBody>
      </p:sp>
      <p:sp>
        <p:nvSpPr>
          <p:cNvPr id="40" name="Shape 34"/>
          <p:cNvSpPr/>
          <p:nvPr/>
        </p:nvSpPr>
        <p:spPr>
          <a:xfrm>
            <a:off x="5374360" y="1121059"/>
            <a:ext cx="724086" cy="2643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1" name="Text 35"/>
          <p:cNvSpPr/>
          <p:nvPr/>
        </p:nvSpPr>
        <p:spPr>
          <a:xfrm>
            <a:off x="5374360" y="1121059"/>
            <a:ext cx="724086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customer_id</a:t>
            </a:r>
            <a:endParaRPr lang="en-US" sz="732" dirty="0"/>
          </a:p>
        </p:txBody>
      </p:sp>
      <p:sp>
        <p:nvSpPr>
          <p:cNvPr id="42" name="Shape 36"/>
          <p:cNvSpPr/>
          <p:nvPr/>
        </p:nvSpPr>
        <p:spPr>
          <a:xfrm>
            <a:off x="6098446" y="1121059"/>
            <a:ext cx="641682" cy="2643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3" name="Text 37"/>
          <p:cNvSpPr/>
          <p:nvPr/>
        </p:nvSpPr>
        <p:spPr>
          <a:xfrm>
            <a:off x="6098446" y="1121059"/>
            <a:ext cx="641682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product_id</a:t>
            </a:r>
            <a:endParaRPr lang="en-US" sz="732" dirty="0"/>
          </a:p>
        </p:txBody>
      </p:sp>
      <p:sp>
        <p:nvSpPr>
          <p:cNvPr id="44" name="Shape 38"/>
          <p:cNvSpPr/>
          <p:nvPr/>
        </p:nvSpPr>
        <p:spPr>
          <a:xfrm>
            <a:off x="6740128" y="1121059"/>
            <a:ext cx="957625" cy="2643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5" name="Text 39"/>
          <p:cNvSpPr/>
          <p:nvPr/>
        </p:nvSpPr>
        <p:spPr>
          <a:xfrm>
            <a:off x="6740128" y="1121059"/>
            <a:ext cx="95762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transaction_date</a:t>
            </a:r>
            <a:endParaRPr lang="en-US" sz="732" dirty="0"/>
          </a:p>
        </p:txBody>
      </p:sp>
      <p:sp>
        <p:nvSpPr>
          <p:cNvPr id="46" name="Shape 40"/>
          <p:cNvSpPr/>
          <p:nvPr/>
        </p:nvSpPr>
        <p:spPr>
          <a:xfrm>
            <a:off x="7697753" y="1121059"/>
            <a:ext cx="543678" cy="2643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7" name="Text 41"/>
          <p:cNvSpPr/>
          <p:nvPr/>
        </p:nvSpPr>
        <p:spPr>
          <a:xfrm>
            <a:off x="7697753" y="1121059"/>
            <a:ext cx="543678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quantity</a:t>
            </a:r>
            <a:endParaRPr lang="en-US" sz="732" dirty="0"/>
          </a:p>
        </p:txBody>
      </p:sp>
      <p:sp>
        <p:nvSpPr>
          <p:cNvPr id="48" name="Shape 42"/>
          <p:cNvSpPr/>
          <p:nvPr/>
        </p:nvSpPr>
        <p:spPr>
          <a:xfrm>
            <a:off x="8241432" y="1121059"/>
            <a:ext cx="509662" cy="2643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9" name="Text 43"/>
          <p:cNvSpPr/>
          <p:nvPr/>
        </p:nvSpPr>
        <p:spPr>
          <a:xfrm>
            <a:off x="8241432" y="1121059"/>
            <a:ext cx="509662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amount</a:t>
            </a:r>
            <a:endParaRPr lang="en-US" sz="732" dirty="0"/>
          </a:p>
        </p:txBody>
      </p:sp>
      <p:sp>
        <p:nvSpPr>
          <p:cNvPr id="50" name="Text 44"/>
          <p:cNvSpPr/>
          <p:nvPr/>
        </p:nvSpPr>
        <p:spPr>
          <a:xfrm>
            <a:off x="4549146" y="1385378"/>
            <a:ext cx="825215" cy="23931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T1001</a:t>
            </a:r>
            <a:endParaRPr lang="en-US" sz="732" dirty="0"/>
          </a:p>
        </p:txBody>
      </p:sp>
      <p:sp>
        <p:nvSpPr>
          <p:cNvPr id="51" name="Text 45"/>
          <p:cNvSpPr/>
          <p:nvPr/>
        </p:nvSpPr>
        <p:spPr>
          <a:xfrm>
            <a:off x="5374360" y="1385378"/>
            <a:ext cx="724086" cy="23931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C001</a:t>
            </a:r>
            <a:endParaRPr lang="en-US" sz="732" dirty="0"/>
          </a:p>
        </p:txBody>
      </p:sp>
      <p:sp>
        <p:nvSpPr>
          <p:cNvPr id="52" name="Text 46"/>
          <p:cNvSpPr/>
          <p:nvPr/>
        </p:nvSpPr>
        <p:spPr>
          <a:xfrm>
            <a:off x="6098446" y="1385378"/>
            <a:ext cx="641682" cy="23931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P105</a:t>
            </a:r>
            <a:endParaRPr lang="en-US" sz="732" dirty="0"/>
          </a:p>
        </p:txBody>
      </p:sp>
      <p:sp>
        <p:nvSpPr>
          <p:cNvPr id="53" name="Text 47"/>
          <p:cNvSpPr/>
          <p:nvPr/>
        </p:nvSpPr>
        <p:spPr>
          <a:xfrm>
            <a:off x="6740128" y="1385378"/>
            <a:ext cx="957625" cy="23931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2023-01-15</a:t>
            </a:r>
            <a:endParaRPr lang="en-US" sz="732" dirty="0"/>
          </a:p>
        </p:txBody>
      </p:sp>
      <p:sp>
        <p:nvSpPr>
          <p:cNvPr id="54" name="Text 48"/>
          <p:cNvSpPr/>
          <p:nvPr/>
        </p:nvSpPr>
        <p:spPr>
          <a:xfrm>
            <a:off x="7697753" y="1385378"/>
            <a:ext cx="543678" cy="23931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32" dirty="0"/>
          </a:p>
        </p:txBody>
      </p:sp>
      <p:sp>
        <p:nvSpPr>
          <p:cNvPr id="55" name="Text 49"/>
          <p:cNvSpPr/>
          <p:nvPr/>
        </p:nvSpPr>
        <p:spPr>
          <a:xfrm>
            <a:off x="8241432" y="1385378"/>
            <a:ext cx="509662" cy="23931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1200</a:t>
            </a:r>
            <a:endParaRPr lang="en-US" sz="732" dirty="0"/>
          </a:p>
        </p:txBody>
      </p:sp>
      <p:sp>
        <p:nvSpPr>
          <p:cNvPr id="56" name="Shape 50"/>
          <p:cNvSpPr/>
          <p:nvPr/>
        </p:nvSpPr>
        <p:spPr>
          <a:xfrm>
            <a:off x="4549146" y="1624693"/>
            <a:ext cx="4201948" cy="242888"/>
          </a:xfrm>
          <a:prstGeom prst="rect">
            <a:avLst/>
          </a:prstGeom>
          <a:solidFill>
            <a:srgbClr val="ECF0F1">
              <a:alpha val="50000"/>
            </a:srgbClr>
          </a:solidFill>
          <a:ln/>
        </p:spPr>
      </p:sp>
      <p:sp>
        <p:nvSpPr>
          <p:cNvPr id="57" name="Text 51"/>
          <p:cNvSpPr/>
          <p:nvPr/>
        </p:nvSpPr>
        <p:spPr>
          <a:xfrm>
            <a:off x="4549146" y="1624693"/>
            <a:ext cx="825215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T1002</a:t>
            </a:r>
            <a:endParaRPr lang="en-US" sz="732" dirty="0"/>
          </a:p>
        </p:txBody>
      </p:sp>
      <p:sp>
        <p:nvSpPr>
          <p:cNvPr id="58" name="Text 52"/>
          <p:cNvSpPr/>
          <p:nvPr/>
        </p:nvSpPr>
        <p:spPr>
          <a:xfrm>
            <a:off x="5374360" y="1624693"/>
            <a:ext cx="724086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C003</a:t>
            </a:r>
            <a:endParaRPr lang="en-US" sz="732" dirty="0"/>
          </a:p>
        </p:txBody>
      </p:sp>
      <p:sp>
        <p:nvSpPr>
          <p:cNvPr id="59" name="Text 53"/>
          <p:cNvSpPr/>
          <p:nvPr/>
        </p:nvSpPr>
        <p:spPr>
          <a:xfrm>
            <a:off x="6098446" y="1624693"/>
            <a:ext cx="641682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P102</a:t>
            </a:r>
            <a:endParaRPr lang="en-US" sz="732" dirty="0"/>
          </a:p>
        </p:txBody>
      </p:sp>
      <p:sp>
        <p:nvSpPr>
          <p:cNvPr id="60" name="Text 54"/>
          <p:cNvSpPr/>
          <p:nvPr/>
        </p:nvSpPr>
        <p:spPr>
          <a:xfrm>
            <a:off x="6740128" y="1624693"/>
            <a:ext cx="957625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2023-01-16</a:t>
            </a:r>
            <a:endParaRPr lang="en-US" sz="732" dirty="0"/>
          </a:p>
        </p:txBody>
      </p:sp>
      <p:sp>
        <p:nvSpPr>
          <p:cNvPr id="61" name="Text 55"/>
          <p:cNvSpPr/>
          <p:nvPr/>
        </p:nvSpPr>
        <p:spPr>
          <a:xfrm>
            <a:off x="7697753" y="1624693"/>
            <a:ext cx="543678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32" dirty="0"/>
          </a:p>
        </p:txBody>
      </p:sp>
      <p:sp>
        <p:nvSpPr>
          <p:cNvPr id="62" name="Text 56"/>
          <p:cNvSpPr/>
          <p:nvPr/>
        </p:nvSpPr>
        <p:spPr>
          <a:xfrm>
            <a:off x="8241432" y="1624693"/>
            <a:ext cx="509662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800</a:t>
            </a:r>
            <a:endParaRPr lang="en-US" sz="732" dirty="0"/>
          </a:p>
        </p:txBody>
      </p:sp>
      <p:sp>
        <p:nvSpPr>
          <p:cNvPr id="63" name="Text 57"/>
          <p:cNvSpPr/>
          <p:nvPr/>
        </p:nvSpPr>
        <p:spPr>
          <a:xfrm>
            <a:off x="4549146" y="1867581"/>
            <a:ext cx="825215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T1003</a:t>
            </a:r>
            <a:endParaRPr lang="en-US" sz="732" dirty="0"/>
          </a:p>
        </p:txBody>
      </p:sp>
      <p:sp>
        <p:nvSpPr>
          <p:cNvPr id="64" name="Text 58"/>
          <p:cNvSpPr/>
          <p:nvPr/>
        </p:nvSpPr>
        <p:spPr>
          <a:xfrm>
            <a:off x="5374360" y="1867581"/>
            <a:ext cx="724086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C002</a:t>
            </a:r>
            <a:endParaRPr lang="en-US" sz="732" dirty="0"/>
          </a:p>
        </p:txBody>
      </p:sp>
      <p:sp>
        <p:nvSpPr>
          <p:cNvPr id="65" name="Text 59"/>
          <p:cNvSpPr/>
          <p:nvPr/>
        </p:nvSpPr>
        <p:spPr>
          <a:xfrm>
            <a:off x="6098446" y="1867581"/>
            <a:ext cx="641682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P101</a:t>
            </a:r>
            <a:endParaRPr lang="en-US" sz="732" dirty="0"/>
          </a:p>
        </p:txBody>
      </p:sp>
      <p:sp>
        <p:nvSpPr>
          <p:cNvPr id="66" name="Text 60"/>
          <p:cNvSpPr/>
          <p:nvPr/>
        </p:nvSpPr>
        <p:spPr>
          <a:xfrm>
            <a:off x="6740128" y="1867581"/>
            <a:ext cx="957625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2023-01-16</a:t>
            </a:r>
            <a:endParaRPr lang="en-US" sz="732" dirty="0"/>
          </a:p>
        </p:txBody>
      </p:sp>
      <p:sp>
        <p:nvSpPr>
          <p:cNvPr id="67" name="Text 61"/>
          <p:cNvSpPr/>
          <p:nvPr/>
        </p:nvSpPr>
        <p:spPr>
          <a:xfrm>
            <a:off x="7697753" y="1867581"/>
            <a:ext cx="543678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32" dirty="0"/>
          </a:p>
        </p:txBody>
      </p:sp>
      <p:sp>
        <p:nvSpPr>
          <p:cNvPr id="68" name="Text 62"/>
          <p:cNvSpPr/>
          <p:nvPr/>
        </p:nvSpPr>
        <p:spPr>
          <a:xfrm>
            <a:off x="8241432" y="1867581"/>
            <a:ext cx="509662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1500</a:t>
            </a:r>
            <a:endParaRPr lang="en-US" sz="732" dirty="0"/>
          </a:p>
        </p:txBody>
      </p:sp>
      <p:sp>
        <p:nvSpPr>
          <p:cNvPr id="69" name="Shape 63"/>
          <p:cNvSpPr/>
          <p:nvPr/>
        </p:nvSpPr>
        <p:spPr>
          <a:xfrm>
            <a:off x="4549146" y="2110468"/>
            <a:ext cx="4201948" cy="242888"/>
          </a:xfrm>
          <a:prstGeom prst="rect">
            <a:avLst/>
          </a:prstGeom>
          <a:solidFill>
            <a:srgbClr val="ECF0F1">
              <a:alpha val="50000"/>
            </a:srgbClr>
          </a:solidFill>
          <a:ln/>
        </p:spPr>
      </p:sp>
      <p:sp>
        <p:nvSpPr>
          <p:cNvPr id="70" name="Text 64"/>
          <p:cNvSpPr/>
          <p:nvPr/>
        </p:nvSpPr>
        <p:spPr>
          <a:xfrm>
            <a:off x="4549146" y="2110468"/>
            <a:ext cx="825215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T1004</a:t>
            </a:r>
            <a:endParaRPr lang="en-US" sz="732" dirty="0"/>
          </a:p>
        </p:txBody>
      </p:sp>
      <p:sp>
        <p:nvSpPr>
          <p:cNvPr id="71" name="Text 65"/>
          <p:cNvSpPr/>
          <p:nvPr/>
        </p:nvSpPr>
        <p:spPr>
          <a:xfrm>
            <a:off x="5374360" y="2110468"/>
            <a:ext cx="724086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C005</a:t>
            </a:r>
            <a:endParaRPr lang="en-US" sz="732" dirty="0"/>
          </a:p>
        </p:txBody>
      </p:sp>
      <p:sp>
        <p:nvSpPr>
          <p:cNvPr id="72" name="Text 66"/>
          <p:cNvSpPr/>
          <p:nvPr/>
        </p:nvSpPr>
        <p:spPr>
          <a:xfrm>
            <a:off x="6098446" y="2110468"/>
            <a:ext cx="641682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P103</a:t>
            </a:r>
            <a:endParaRPr lang="en-US" sz="732" dirty="0"/>
          </a:p>
        </p:txBody>
      </p:sp>
      <p:sp>
        <p:nvSpPr>
          <p:cNvPr id="73" name="Text 67"/>
          <p:cNvSpPr/>
          <p:nvPr/>
        </p:nvSpPr>
        <p:spPr>
          <a:xfrm>
            <a:off x="6740128" y="2110468"/>
            <a:ext cx="957625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2023-01-17</a:t>
            </a:r>
            <a:endParaRPr lang="en-US" sz="732" dirty="0"/>
          </a:p>
        </p:txBody>
      </p:sp>
      <p:sp>
        <p:nvSpPr>
          <p:cNvPr id="74" name="Text 68"/>
          <p:cNvSpPr/>
          <p:nvPr/>
        </p:nvSpPr>
        <p:spPr>
          <a:xfrm>
            <a:off x="7697753" y="2110468"/>
            <a:ext cx="543678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32" dirty="0"/>
          </a:p>
        </p:txBody>
      </p:sp>
      <p:sp>
        <p:nvSpPr>
          <p:cNvPr id="75" name="Text 69"/>
          <p:cNvSpPr/>
          <p:nvPr/>
        </p:nvSpPr>
        <p:spPr>
          <a:xfrm>
            <a:off x="8241432" y="2110468"/>
            <a:ext cx="509662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650</a:t>
            </a:r>
            <a:endParaRPr lang="en-US" sz="732" dirty="0"/>
          </a:p>
        </p:txBody>
      </p:sp>
      <p:sp>
        <p:nvSpPr>
          <p:cNvPr id="76" name="Text 70"/>
          <p:cNvSpPr/>
          <p:nvPr/>
        </p:nvSpPr>
        <p:spPr>
          <a:xfrm>
            <a:off x="4549146" y="2442653"/>
            <a:ext cx="4201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思考問題：</a:t>
            </a:r>
            <a:endParaRPr lang="en-US" sz="837" dirty="0"/>
          </a:p>
        </p:txBody>
      </p:sp>
      <p:sp>
        <p:nvSpPr>
          <p:cNvPr id="77" name="Text 71"/>
          <p:cNvSpPr/>
          <p:nvPr/>
        </p:nvSpPr>
        <p:spPr>
          <a:xfrm>
            <a:off x="4692021" y="2642678"/>
            <a:ext cx="40590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從這個資料表中，我們可以直接得知什麼資訊？</a:t>
            </a:r>
            <a:endParaRPr lang="en-US" sz="837" dirty="0"/>
          </a:p>
        </p:txBody>
      </p:sp>
      <p:sp>
        <p:nvSpPr>
          <p:cNvPr id="78" name="Text 72"/>
          <p:cNvSpPr/>
          <p:nvPr/>
        </p:nvSpPr>
        <p:spPr>
          <a:xfrm>
            <a:off x="4692021" y="2814128"/>
            <a:ext cx="40590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如果想知道「哪位客戶購買金額最高」，需要怎麼操作？</a:t>
            </a:r>
            <a:endParaRPr lang="en-US" sz="837" dirty="0"/>
          </a:p>
        </p:txBody>
      </p:sp>
      <p:sp>
        <p:nvSpPr>
          <p:cNvPr id="80" name="Text 73"/>
          <p:cNvSpPr/>
          <p:nvPr/>
        </p:nvSpPr>
        <p:spPr>
          <a:xfrm>
            <a:off x="7300913" y="5398675"/>
            <a:ext cx="170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第二堂課：資料操作、資料清理與整併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18564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為什麼資料要清理？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957263"/>
            <a:ext cx="4179094" cy="932929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957263"/>
            <a:ext cx="28575" cy="932929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103709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506" y="1064419"/>
            <a:ext cx="125732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資料來自現實世界 </a:t>
            </a:r>
            <a:endParaRPr lang="en-US" sz="1238" dirty="0"/>
          </a:p>
        </p:txBody>
      </p:sp>
      <p:sp>
        <p:nvSpPr>
          <p:cNvPr id="8" name="Text 4"/>
          <p:cNvSpPr/>
          <p:nvPr/>
        </p:nvSpPr>
        <p:spPr>
          <a:xfrm>
            <a:off x="392906" y="1371600"/>
            <a:ext cx="39647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現實世界的資料收集過程充滿變數，包括人為輸入錯誤、系統故障、傳輸問題等，導致資料常有錯誤、遺漏或不一致。 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285750" y="2033067"/>
            <a:ext cx="4179094" cy="932929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0" name="Shape 6"/>
          <p:cNvSpPr/>
          <p:nvPr/>
        </p:nvSpPr>
        <p:spPr>
          <a:xfrm>
            <a:off x="285750" y="2033067"/>
            <a:ext cx="28575" cy="932929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179513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506" y="2140223"/>
            <a:ext cx="220030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不乾淨的資料會導致錯誤的結論 </a:t>
            </a:r>
            <a:endParaRPr lang="en-US" sz="1238" dirty="0"/>
          </a:p>
        </p:txBody>
      </p:sp>
      <p:sp>
        <p:nvSpPr>
          <p:cNvPr id="13" name="Text 8"/>
          <p:cNvSpPr/>
          <p:nvPr/>
        </p:nvSpPr>
        <p:spPr>
          <a:xfrm>
            <a:off x="392906" y="2447404"/>
            <a:ext cx="39647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分析基於有缺陷的資料所得出的結論可能完全錯誤，進而導致錯誤的商業決策，造成資源浪費甚至損失。 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285750" y="3108871"/>
            <a:ext cx="4179094" cy="932929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5" name="Shape 10"/>
          <p:cNvSpPr/>
          <p:nvPr/>
        </p:nvSpPr>
        <p:spPr>
          <a:xfrm>
            <a:off x="285750" y="3108871"/>
            <a:ext cx="28575" cy="932929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3255318"/>
            <a:ext cx="157163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506" y="3216027"/>
            <a:ext cx="157165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提高分析效率與準確性 </a:t>
            </a:r>
            <a:endParaRPr lang="en-US" sz="1238" dirty="0"/>
          </a:p>
        </p:txBody>
      </p:sp>
      <p:sp>
        <p:nvSpPr>
          <p:cNvPr id="18" name="Text 12"/>
          <p:cNvSpPr/>
          <p:nvPr/>
        </p:nvSpPr>
        <p:spPr>
          <a:xfrm>
            <a:off x="392906" y="3523208"/>
            <a:ext cx="39647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乾淨的資料可以加速分析過程，減少處理異常值的時間，並提高模型的準確性和可靠性。 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285750" y="4184675"/>
            <a:ext cx="4179094" cy="900113"/>
          </a:xfrm>
          <a:prstGeom prst="rect">
            <a:avLst/>
          </a:prstGeom>
          <a:solidFill>
            <a:srgbClr val="E8F4FC"/>
          </a:solidFill>
          <a:ln w="99">
            <a:solidFill>
              <a:srgbClr val="3498DB"/>
            </a:solidFill>
            <a:prstDash val="dash"/>
          </a:ln>
        </p:spPr>
      </p:sp>
      <p:sp>
        <p:nvSpPr>
          <p:cNvPr id="20" name="Text 14"/>
          <p:cNvSpPr/>
          <p:nvPr/>
        </p:nvSpPr>
        <p:spPr>
          <a:xfrm>
            <a:off x="392906" y="4291831"/>
            <a:ext cx="39647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資料科學家的名言</a:t>
            </a:r>
            <a:endParaRPr lang="en-US" sz="1046" dirty="0"/>
          </a:p>
        </p:txBody>
      </p:sp>
      <p:sp>
        <p:nvSpPr>
          <p:cNvPr id="21" name="Text 15"/>
          <p:cNvSpPr/>
          <p:nvPr/>
        </p:nvSpPr>
        <p:spPr>
          <a:xfrm>
            <a:off x="1527451" y="4586511"/>
            <a:ext cx="16956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"Garbage in, Garbage out"</a:t>
            </a:r>
            <a:endParaRPr lang="en-US" sz="942" dirty="0"/>
          </a:p>
        </p:txBody>
      </p:sp>
      <p:sp>
        <p:nvSpPr>
          <p:cNvPr id="22" name="Text 16"/>
          <p:cNvSpPr/>
          <p:nvPr/>
        </p:nvSpPr>
        <p:spPr>
          <a:xfrm>
            <a:off x="1668038" y="4779392"/>
            <a:ext cx="14144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（輸入垃圾，輸出垃圾） </a:t>
            </a:r>
            <a:endParaRPr lang="en-US" sz="942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56" y="1924906"/>
            <a:ext cx="4179094" cy="21779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9298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清理的重點工作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478788"/>
            <a:ext cx="4179094" cy="143589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478788"/>
            <a:ext cx="28575" cy="1435894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625234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506" y="585944"/>
            <a:ext cx="134799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缺值（Nulls）處理 </a:t>
            </a:r>
            <a:endParaRPr lang="en-US" sz="1238" dirty="0"/>
          </a:p>
        </p:txBody>
      </p:sp>
      <p:sp>
        <p:nvSpPr>
          <p:cNvPr id="8" name="Text 4"/>
          <p:cNvSpPr/>
          <p:nvPr/>
        </p:nvSpPr>
        <p:spPr>
          <a:xfrm>
            <a:off x="392906" y="902055"/>
            <a:ext cx="27003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資料中的空值會影響分析結果，需要適當處理。 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392906" y="1157444"/>
            <a:ext cx="314325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6"/>
          <p:cNvSpPr/>
          <p:nvPr/>
        </p:nvSpPr>
        <p:spPr>
          <a:xfrm>
            <a:off x="392906" y="1157444"/>
            <a:ext cx="314325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刪除</a:t>
            </a:r>
            <a:endParaRPr lang="en-US" sz="732" dirty="0"/>
          </a:p>
        </p:txBody>
      </p:sp>
      <p:sp>
        <p:nvSpPr>
          <p:cNvPr id="11" name="Shape 7"/>
          <p:cNvSpPr/>
          <p:nvPr/>
        </p:nvSpPr>
        <p:spPr>
          <a:xfrm>
            <a:off x="764381" y="1157444"/>
            <a:ext cx="614363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2" name="Text 8"/>
          <p:cNvSpPr/>
          <p:nvPr/>
        </p:nvSpPr>
        <p:spPr>
          <a:xfrm>
            <a:off x="764381" y="1157444"/>
            <a:ext cx="614363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平均值填補</a:t>
            </a:r>
            <a:endParaRPr lang="en-US" sz="732" dirty="0"/>
          </a:p>
        </p:txBody>
      </p:sp>
      <p:sp>
        <p:nvSpPr>
          <p:cNvPr id="13" name="Shape 9"/>
          <p:cNvSpPr/>
          <p:nvPr/>
        </p:nvSpPr>
        <p:spPr>
          <a:xfrm>
            <a:off x="1435894" y="1157444"/>
            <a:ext cx="614363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0"/>
          <p:cNvSpPr/>
          <p:nvPr/>
        </p:nvSpPr>
        <p:spPr>
          <a:xfrm>
            <a:off x="1435894" y="1157444"/>
            <a:ext cx="614363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中位數填補</a:t>
            </a:r>
            <a:endParaRPr lang="en-US" sz="732" dirty="0"/>
          </a:p>
        </p:txBody>
      </p:sp>
      <p:sp>
        <p:nvSpPr>
          <p:cNvPr id="15" name="Shape 11"/>
          <p:cNvSpPr/>
          <p:nvPr/>
        </p:nvSpPr>
        <p:spPr>
          <a:xfrm>
            <a:off x="2107406" y="1157444"/>
            <a:ext cx="514350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6" name="Text 12"/>
          <p:cNvSpPr/>
          <p:nvPr/>
        </p:nvSpPr>
        <p:spPr>
          <a:xfrm>
            <a:off x="2107406" y="1157444"/>
            <a:ext cx="514350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特殊標記</a:t>
            </a:r>
            <a:endParaRPr lang="en-US" sz="732" dirty="0"/>
          </a:p>
        </p:txBody>
      </p:sp>
      <p:sp>
        <p:nvSpPr>
          <p:cNvPr id="17" name="Shape 13"/>
          <p:cNvSpPr/>
          <p:nvPr/>
        </p:nvSpPr>
        <p:spPr>
          <a:xfrm>
            <a:off x="392906" y="1493200"/>
            <a:ext cx="3964781" cy="3143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4"/>
          <p:cNvSpPr/>
          <p:nvPr/>
        </p:nvSpPr>
        <p:spPr>
          <a:xfrm>
            <a:off x="392906" y="1493200"/>
            <a:ext cx="396478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例如：客戶年齡欄位為空，可用該性別客戶的平均年齡填補 </a:t>
            </a:r>
            <a:endParaRPr lang="en-US" sz="837" dirty="0"/>
          </a:p>
        </p:txBody>
      </p:sp>
      <p:sp>
        <p:nvSpPr>
          <p:cNvPr id="19" name="Shape 15"/>
          <p:cNvSpPr/>
          <p:nvPr/>
        </p:nvSpPr>
        <p:spPr>
          <a:xfrm>
            <a:off x="285750" y="2057556"/>
            <a:ext cx="4179094" cy="143589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0" name="Shape 16"/>
          <p:cNvSpPr/>
          <p:nvPr/>
        </p:nvSpPr>
        <p:spPr>
          <a:xfrm>
            <a:off x="285750" y="2057556"/>
            <a:ext cx="28575" cy="1435894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204003"/>
            <a:ext cx="157163" cy="15716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506" y="2164713"/>
            <a:ext cx="78584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異常值處理 </a:t>
            </a:r>
            <a:endParaRPr lang="en-US" sz="1238" dirty="0"/>
          </a:p>
        </p:txBody>
      </p:sp>
      <p:sp>
        <p:nvSpPr>
          <p:cNvPr id="23" name="Text 18"/>
          <p:cNvSpPr/>
          <p:nvPr/>
        </p:nvSpPr>
        <p:spPr>
          <a:xfrm>
            <a:off x="392906" y="2480823"/>
            <a:ext cx="32147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極端或不合理的數值會扭曲分析結果，需要識別和處理。 </a:t>
            </a:r>
            <a:endParaRPr lang="en-US" sz="942" dirty="0"/>
          </a:p>
        </p:txBody>
      </p:sp>
      <p:sp>
        <p:nvSpPr>
          <p:cNvPr id="24" name="Shape 19"/>
          <p:cNvSpPr/>
          <p:nvPr/>
        </p:nvSpPr>
        <p:spPr>
          <a:xfrm>
            <a:off x="392906" y="2736213"/>
            <a:ext cx="314325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Text 20"/>
          <p:cNvSpPr/>
          <p:nvPr/>
        </p:nvSpPr>
        <p:spPr>
          <a:xfrm>
            <a:off x="392906" y="2736213"/>
            <a:ext cx="314325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刪除</a:t>
            </a:r>
            <a:endParaRPr lang="en-US" sz="732" dirty="0"/>
          </a:p>
        </p:txBody>
      </p:sp>
      <p:sp>
        <p:nvSpPr>
          <p:cNvPr id="26" name="Shape 21"/>
          <p:cNvSpPr/>
          <p:nvPr/>
        </p:nvSpPr>
        <p:spPr>
          <a:xfrm>
            <a:off x="764381" y="2736213"/>
            <a:ext cx="314325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7" name="Text 22"/>
          <p:cNvSpPr/>
          <p:nvPr/>
        </p:nvSpPr>
        <p:spPr>
          <a:xfrm>
            <a:off x="764381" y="2736213"/>
            <a:ext cx="314325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替換</a:t>
            </a:r>
            <a:endParaRPr lang="en-US" sz="732" dirty="0"/>
          </a:p>
        </p:txBody>
      </p:sp>
      <p:sp>
        <p:nvSpPr>
          <p:cNvPr id="28" name="Shape 23"/>
          <p:cNvSpPr/>
          <p:nvPr/>
        </p:nvSpPr>
        <p:spPr>
          <a:xfrm>
            <a:off x="1135856" y="2736213"/>
            <a:ext cx="314325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9" name="Text 24"/>
          <p:cNvSpPr/>
          <p:nvPr/>
        </p:nvSpPr>
        <p:spPr>
          <a:xfrm>
            <a:off x="1135856" y="2736213"/>
            <a:ext cx="314325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轉換</a:t>
            </a:r>
            <a:endParaRPr lang="en-US" sz="732" dirty="0"/>
          </a:p>
        </p:txBody>
      </p:sp>
      <p:sp>
        <p:nvSpPr>
          <p:cNvPr id="30" name="Shape 25"/>
          <p:cNvSpPr/>
          <p:nvPr/>
        </p:nvSpPr>
        <p:spPr>
          <a:xfrm>
            <a:off x="1507331" y="2736213"/>
            <a:ext cx="514350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1" name="Text 26"/>
          <p:cNvSpPr/>
          <p:nvPr/>
        </p:nvSpPr>
        <p:spPr>
          <a:xfrm>
            <a:off x="1507331" y="2736213"/>
            <a:ext cx="514350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分組處理</a:t>
            </a:r>
            <a:endParaRPr lang="en-US" sz="732" dirty="0"/>
          </a:p>
        </p:txBody>
      </p:sp>
      <p:sp>
        <p:nvSpPr>
          <p:cNvPr id="32" name="Shape 27"/>
          <p:cNvSpPr/>
          <p:nvPr/>
        </p:nvSpPr>
        <p:spPr>
          <a:xfrm>
            <a:off x="392906" y="3071969"/>
            <a:ext cx="3964781" cy="3143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Text 28"/>
          <p:cNvSpPr/>
          <p:nvPr/>
        </p:nvSpPr>
        <p:spPr>
          <a:xfrm>
            <a:off x="392906" y="3071969"/>
            <a:ext cx="396478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例如：商品價格為負數、訂單數量不合理的大 </a:t>
            </a:r>
            <a:endParaRPr lang="en-US" sz="837" dirty="0"/>
          </a:p>
        </p:txBody>
      </p:sp>
      <p:sp>
        <p:nvSpPr>
          <p:cNvPr id="34" name="Shape 29"/>
          <p:cNvSpPr/>
          <p:nvPr/>
        </p:nvSpPr>
        <p:spPr>
          <a:xfrm>
            <a:off x="285750" y="3636325"/>
            <a:ext cx="4179094" cy="143589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35" name="Shape 30"/>
          <p:cNvSpPr/>
          <p:nvPr/>
        </p:nvSpPr>
        <p:spPr>
          <a:xfrm>
            <a:off x="285750" y="3636325"/>
            <a:ext cx="28575" cy="1435894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3782772"/>
            <a:ext cx="157163" cy="157163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21506" y="3743481"/>
            <a:ext cx="6286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格式統一 </a:t>
            </a:r>
            <a:endParaRPr lang="en-US" sz="1238" dirty="0"/>
          </a:p>
        </p:txBody>
      </p:sp>
      <p:sp>
        <p:nvSpPr>
          <p:cNvPr id="38" name="Text 32"/>
          <p:cNvSpPr/>
          <p:nvPr/>
        </p:nvSpPr>
        <p:spPr>
          <a:xfrm>
            <a:off x="392906" y="4059592"/>
            <a:ext cx="24431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確保資料格式一致，便於後續分析和整合。 </a:t>
            </a:r>
            <a:endParaRPr lang="en-US" sz="942" dirty="0"/>
          </a:p>
        </p:txBody>
      </p:sp>
      <p:sp>
        <p:nvSpPr>
          <p:cNvPr id="39" name="Shape 33"/>
          <p:cNvSpPr/>
          <p:nvPr/>
        </p:nvSpPr>
        <p:spPr>
          <a:xfrm>
            <a:off x="392906" y="4314981"/>
            <a:ext cx="514350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0" name="Text 34"/>
          <p:cNvSpPr/>
          <p:nvPr/>
        </p:nvSpPr>
        <p:spPr>
          <a:xfrm>
            <a:off x="392906" y="4314981"/>
            <a:ext cx="514350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日期格式</a:t>
            </a:r>
            <a:endParaRPr lang="en-US" sz="732" dirty="0"/>
          </a:p>
        </p:txBody>
      </p:sp>
      <p:sp>
        <p:nvSpPr>
          <p:cNvPr id="41" name="Shape 35"/>
          <p:cNvSpPr/>
          <p:nvPr/>
        </p:nvSpPr>
        <p:spPr>
          <a:xfrm>
            <a:off x="964406" y="4314981"/>
            <a:ext cx="414338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2" name="Text 36"/>
          <p:cNvSpPr/>
          <p:nvPr/>
        </p:nvSpPr>
        <p:spPr>
          <a:xfrm>
            <a:off x="964406" y="4314981"/>
            <a:ext cx="41433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大小寫</a:t>
            </a:r>
            <a:endParaRPr lang="en-US" sz="732" dirty="0"/>
          </a:p>
        </p:txBody>
      </p:sp>
      <p:sp>
        <p:nvSpPr>
          <p:cNvPr id="43" name="Shape 37"/>
          <p:cNvSpPr/>
          <p:nvPr/>
        </p:nvSpPr>
        <p:spPr>
          <a:xfrm>
            <a:off x="1435894" y="4314981"/>
            <a:ext cx="514350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4" name="Text 38"/>
          <p:cNvSpPr/>
          <p:nvPr/>
        </p:nvSpPr>
        <p:spPr>
          <a:xfrm>
            <a:off x="1435894" y="4314981"/>
            <a:ext cx="514350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欄位類型</a:t>
            </a:r>
            <a:endParaRPr lang="en-US" sz="732" dirty="0"/>
          </a:p>
        </p:txBody>
      </p:sp>
      <p:sp>
        <p:nvSpPr>
          <p:cNvPr id="45" name="Shape 39"/>
          <p:cNvSpPr/>
          <p:nvPr/>
        </p:nvSpPr>
        <p:spPr>
          <a:xfrm>
            <a:off x="2007394" y="4314981"/>
            <a:ext cx="514350" cy="2071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6" name="Text 40"/>
          <p:cNvSpPr/>
          <p:nvPr/>
        </p:nvSpPr>
        <p:spPr>
          <a:xfrm>
            <a:off x="2007394" y="4314981"/>
            <a:ext cx="514350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單位轉換</a:t>
            </a:r>
            <a:endParaRPr lang="en-US" sz="732" dirty="0"/>
          </a:p>
        </p:txBody>
      </p:sp>
      <p:sp>
        <p:nvSpPr>
          <p:cNvPr id="47" name="Shape 41"/>
          <p:cNvSpPr/>
          <p:nvPr/>
        </p:nvSpPr>
        <p:spPr>
          <a:xfrm>
            <a:off x="392906" y="4650738"/>
            <a:ext cx="3964781" cy="3143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8" name="Text 42"/>
          <p:cNvSpPr/>
          <p:nvPr/>
        </p:nvSpPr>
        <p:spPr>
          <a:xfrm>
            <a:off x="392906" y="4650738"/>
            <a:ext cx="396478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例如：統一日期格式為YYYY-MM-DD、性別欄位統一為M/F </a:t>
            </a:r>
            <a:endParaRPr lang="en-US" sz="837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56" y="2147328"/>
            <a:ext cx="4179094" cy="13992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936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19930"/>
            <a:ext cx="1947342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練習2：確認資料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684299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8638" y="641436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練習步驟 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285750" y="970049"/>
            <a:ext cx="4214813" cy="2928938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392906" y="1077205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8" name="Text 4"/>
          <p:cNvSpPr/>
          <p:nvPr/>
        </p:nvSpPr>
        <p:spPr>
          <a:xfrm>
            <a:off x="392906" y="107720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692944" y="1077205"/>
            <a:ext cx="37004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開啟資料檔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692944" y="1291518"/>
            <a:ext cx="17114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 Excel 或 Google Colab 開啟 </a:t>
            </a:r>
            <a:endParaRPr lang="en-US" sz="837" dirty="0"/>
          </a:p>
        </p:txBody>
      </p:sp>
      <p:sp>
        <p:nvSpPr>
          <p:cNvPr id="11" name="Shape 7"/>
          <p:cNvSpPr/>
          <p:nvPr/>
        </p:nvSpPr>
        <p:spPr>
          <a:xfrm>
            <a:off x="2404374" y="1277230"/>
            <a:ext cx="745936" cy="1839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8"/>
          <p:cNvSpPr/>
          <p:nvPr/>
        </p:nvSpPr>
        <p:spPr>
          <a:xfrm>
            <a:off x="2404374" y="1277230"/>
            <a:ext cx="745936" cy="183952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products.csv</a:t>
            </a:r>
            <a:endParaRPr lang="en-US" sz="837" dirty="0"/>
          </a:p>
        </p:txBody>
      </p:sp>
      <p:sp>
        <p:nvSpPr>
          <p:cNvPr id="13" name="Text 9"/>
          <p:cNvSpPr/>
          <p:nvPr/>
        </p:nvSpPr>
        <p:spPr>
          <a:xfrm>
            <a:off x="3150310" y="1291518"/>
            <a:ext cx="1737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與 </a:t>
            </a:r>
            <a:endParaRPr lang="en-US" sz="837" dirty="0"/>
          </a:p>
        </p:txBody>
      </p:sp>
      <p:sp>
        <p:nvSpPr>
          <p:cNvPr id="14" name="Shape 10"/>
          <p:cNvSpPr/>
          <p:nvPr/>
        </p:nvSpPr>
        <p:spPr>
          <a:xfrm>
            <a:off x="3324048" y="1277230"/>
            <a:ext cx="929720" cy="1839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1"/>
          <p:cNvSpPr/>
          <p:nvPr/>
        </p:nvSpPr>
        <p:spPr>
          <a:xfrm>
            <a:off x="3324048" y="1277230"/>
            <a:ext cx="929720" cy="183952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transactions.csv</a:t>
            </a:r>
            <a:endParaRPr lang="en-US" sz="837" dirty="0"/>
          </a:p>
        </p:txBody>
      </p:sp>
      <p:sp>
        <p:nvSpPr>
          <p:cNvPr id="16" name="Text 12"/>
          <p:cNvSpPr/>
          <p:nvPr/>
        </p:nvSpPr>
        <p:spPr>
          <a:xfrm>
            <a:off x="692944" y="1462968"/>
            <a:ext cx="228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檔案</a:t>
            </a:r>
            <a:endParaRPr lang="en-US" sz="837" dirty="0"/>
          </a:p>
        </p:txBody>
      </p:sp>
      <p:sp>
        <p:nvSpPr>
          <p:cNvPr id="17" name="Shape 13"/>
          <p:cNvSpPr/>
          <p:nvPr/>
        </p:nvSpPr>
        <p:spPr>
          <a:xfrm>
            <a:off x="392906" y="1734430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8" name="Text 14"/>
          <p:cNvSpPr/>
          <p:nvPr/>
        </p:nvSpPr>
        <p:spPr>
          <a:xfrm>
            <a:off x="392906" y="173443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9" name="Text 15"/>
          <p:cNvSpPr/>
          <p:nvPr/>
        </p:nvSpPr>
        <p:spPr>
          <a:xfrm>
            <a:off x="692944" y="1734430"/>
            <a:ext cx="37004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尋找資料問題</a:t>
            </a:r>
            <a:endParaRPr lang="en-US" sz="837" dirty="0"/>
          </a:p>
        </p:txBody>
      </p:sp>
      <p:sp>
        <p:nvSpPr>
          <p:cNvPr id="20" name="Text 16"/>
          <p:cNvSpPr/>
          <p:nvPr/>
        </p:nvSpPr>
        <p:spPr>
          <a:xfrm>
            <a:off x="692944" y="1941599"/>
            <a:ext cx="37004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仔細檢查資料，找出以下類型的問題：</a:t>
            </a:r>
            <a:endParaRPr lang="en-US" sz="837" dirty="0"/>
          </a:p>
        </p:txBody>
      </p:sp>
      <p:sp>
        <p:nvSpPr>
          <p:cNvPr id="21" name="Text 17"/>
          <p:cNvSpPr/>
          <p:nvPr/>
        </p:nvSpPr>
        <p:spPr>
          <a:xfrm>
            <a:off x="835819" y="2141624"/>
            <a:ext cx="35575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空值（NULL 或 NaN）</a:t>
            </a:r>
            <a:endParaRPr lang="en-US" sz="837" dirty="0"/>
          </a:p>
        </p:txBody>
      </p:sp>
      <p:sp>
        <p:nvSpPr>
          <p:cNvPr id="22" name="Text 18"/>
          <p:cNvSpPr/>
          <p:nvPr/>
        </p:nvSpPr>
        <p:spPr>
          <a:xfrm>
            <a:off x="835819" y="2313074"/>
            <a:ext cx="35575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異常值（如負數價格、不合理的數量）</a:t>
            </a:r>
            <a:endParaRPr lang="en-US" sz="837" dirty="0"/>
          </a:p>
        </p:txBody>
      </p:sp>
      <p:sp>
        <p:nvSpPr>
          <p:cNvPr id="23" name="Text 19"/>
          <p:cNvSpPr/>
          <p:nvPr/>
        </p:nvSpPr>
        <p:spPr>
          <a:xfrm>
            <a:off x="835819" y="2484524"/>
            <a:ext cx="35575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格式不一致（如日期格式不同）</a:t>
            </a:r>
            <a:endParaRPr lang="en-US" sz="837" dirty="0"/>
          </a:p>
        </p:txBody>
      </p:sp>
      <p:sp>
        <p:nvSpPr>
          <p:cNvPr id="24" name="Text 20"/>
          <p:cNvSpPr/>
          <p:nvPr/>
        </p:nvSpPr>
        <p:spPr>
          <a:xfrm>
            <a:off x="835819" y="2655974"/>
            <a:ext cx="35575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商品 ID 不一致（兩個表格間的對應問題）</a:t>
            </a:r>
            <a:endParaRPr lang="en-US" sz="837" dirty="0"/>
          </a:p>
        </p:txBody>
      </p:sp>
      <p:sp>
        <p:nvSpPr>
          <p:cNvPr id="25" name="Shape 21"/>
          <p:cNvSpPr/>
          <p:nvPr/>
        </p:nvSpPr>
        <p:spPr>
          <a:xfrm>
            <a:off x="392906" y="2934580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6" name="Text 22"/>
          <p:cNvSpPr/>
          <p:nvPr/>
        </p:nvSpPr>
        <p:spPr>
          <a:xfrm>
            <a:off x="392906" y="293458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27" name="Text 23"/>
          <p:cNvSpPr/>
          <p:nvPr/>
        </p:nvSpPr>
        <p:spPr>
          <a:xfrm>
            <a:off x="692944" y="2934580"/>
            <a:ext cx="37004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討論處理方法</a:t>
            </a:r>
            <a:endParaRPr lang="en-US" sz="837" dirty="0"/>
          </a:p>
        </p:txBody>
      </p:sp>
      <p:sp>
        <p:nvSpPr>
          <p:cNvPr id="28" name="Text 24"/>
          <p:cNvSpPr/>
          <p:nvPr/>
        </p:nvSpPr>
        <p:spPr>
          <a:xfrm>
            <a:off x="692944" y="3141749"/>
            <a:ext cx="37004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與小組成員討論：</a:t>
            </a:r>
            <a:endParaRPr lang="en-US" sz="837" dirty="0"/>
          </a:p>
        </p:txBody>
      </p:sp>
      <p:sp>
        <p:nvSpPr>
          <p:cNvPr id="29" name="Text 25"/>
          <p:cNvSpPr/>
          <p:nvPr/>
        </p:nvSpPr>
        <p:spPr>
          <a:xfrm>
            <a:off x="835819" y="3341774"/>
            <a:ext cx="35575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這些資料問題會如何影響分析結果？</a:t>
            </a:r>
            <a:endParaRPr lang="en-US" sz="837" dirty="0"/>
          </a:p>
        </p:txBody>
      </p:sp>
      <p:sp>
        <p:nvSpPr>
          <p:cNvPr id="30" name="Text 26"/>
          <p:cNvSpPr/>
          <p:nvPr/>
        </p:nvSpPr>
        <p:spPr>
          <a:xfrm>
            <a:off x="835819" y="3513224"/>
            <a:ext cx="35575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應該如何處理每種類型的問題？</a:t>
            </a:r>
            <a:endParaRPr lang="en-US" sz="837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719" y="3209697"/>
            <a:ext cx="128588" cy="17145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807744" y="3166835"/>
            <a:ext cx="342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提示 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4607719" y="3495447"/>
            <a:ext cx="4214813" cy="1100138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4714875" y="3602603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可以使用以下方法找出問題：</a:t>
            </a:r>
            <a:endParaRPr lang="en-US" sz="837" dirty="0"/>
          </a:p>
        </p:txBody>
      </p:sp>
      <p:sp>
        <p:nvSpPr>
          <p:cNvPr id="35" name="Text 30"/>
          <p:cNvSpPr/>
          <p:nvPr/>
        </p:nvSpPr>
        <p:spPr>
          <a:xfrm>
            <a:off x="4857750" y="380262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使用排序功能找出極端值</a:t>
            </a:r>
            <a:endParaRPr lang="en-US" sz="837" dirty="0"/>
          </a:p>
        </p:txBody>
      </p:sp>
      <p:sp>
        <p:nvSpPr>
          <p:cNvPr id="36" name="Text 31"/>
          <p:cNvSpPr/>
          <p:nvPr/>
        </p:nvSpPr>
        <p:spPr>
          <a:xfrm>
            <a:off x="4857750" y="397407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使用篩選功能找出空值</a:t>
            </a:r>
            <a:endParaRPr lang="en-US" sz="837" dirty="0"/>
          </a:p>
        </p:txBody>
      </p:sp>
      <p:sp>
        <p:nvSpPr>
          <p:cNvPr id="37" name="Text 32"/>
          <p:cNvSpPr/>
          <p:nvPr/>
        </p:nvSpPr>
        <p:spPr>
          <a:xfrm>
            <a:off x="4857750" y="414552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使用條件格式標記異常值</a:t>
            </a:r>
            <a:endParaRPr lang="en-US" sz="837" dirty="0"/>
          </a:p>
        </p:txBody>
      </p:sp>
      <p:sp>
        <p:nvSpPr>
          <p:cNvPr id="38" name="Text 33"/>
          <p:cNvSpPr/>
          <p:nvPr/>
        </p:nvSpPr>
        <p:spPr>
          <a:xfrm>
            <a:off x="4857750" y="431697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 VLOOKUP 或 COUNTIF 檢查 ID 對應關係</a:t>
            </a:r>
            <a:endParaRPr lang="en-US" sz="837" dirty="0"/>
          </a:p>
        </p:txBody>
      </p:sp>
      <p:sp>
        <p:nvSpPr>
          <p:cNvPr id="39" name="Shape 34"/>
          <p:cNvSpPr/>
          <p:nvPr/>
        </p:nvSpPr>
        <p:spPr>
          <a:xfrm>
            <a:off x="4607719" y="498561"/>
            <a:ext cx="4214813" cy="2578894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648579"/>
            <a:ext cx="171450" cy="17145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4957762" y="605717"/>
            <a:ext cx="1371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常見資料問題範例 </a:t>
            </a:r>
            <a:endParaRPr lang="en-US" sz="1350" dirty="0"/>
          </a:p>
        </p:txBody>
      </p:sp>
      <p:sp>
        <p:nvSpPr>
          <p:cNvPr id="42" name="Shape 36"/>
          <p:cNvSpPr/>
          <p:nvPr/>
        </p:nvSpPr>
        <p:spPr>
          <a:xfrm>
            <a:off x="4714875" y="934329"/>
            <a:ext cx="721854" cy="2643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3" name="Text 37"/>
          <p:cNvSpPr/>
          <p:nvPr/>
        </p:nvSpPr>
        <p:spPr>
          <a:xfrm>
            <a:off x="4714875" y="934329"/>
            <a:ext cx="721854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問題類型</a:t>
            </a:r>
            <a:endParaRPr lang="en-US" sz="732" dirty="0"/>
          </a:p>
        </p:txBody>
      </p:sp>
      <p:sp>
        <p:nvSpPr>
          <p:cNvPr id="44" name="Shape 38"/>
          <p:cNvSpPr/>
          <p:nvPr/>
        </p:nvSpPr>
        <p:spPr>
          <a:xfrm>
            <a:off x="5436728" y="934329"/>
            <a:ext cx="1734173" cy="2643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5" name="Text 39"/>
          <p:cNvSpPr/>
          <p:nvPr/>
        </p:nvSpPr>
        <p:spPr>
          <a:xfrm>
            <a:off x="5436728" y="934329"/>
            <a:ext cx="1734173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範例</a:t>
            </a:r>
            <a:endParaRPr lang="en-US" sz="732" dirty="0"/>
          </a:p>
        </p:txBody>
      </p:sp>
      <p:sp>
        <p:nvSpPr>
          <p:cNvPr id="46" name="Shape 40"/>
          <p:cNvSpPr/>
          <p:nvPr/>
        </p:nvSpPr>
        <p:spPr>
          <a:xfrm>
            <a:off x="7170902" y="934329"/>
            <a:ext cx="1544473" cy="2643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7" name="Text 41"/>
          <p:cNvSpPr/>
          <p:nvPr/>
        </p:nvSpPr>
        <p:spPr>
          <a:xfrm>
            <a:off x="7170902" y="934329"/>
            <a:ext cx="1544473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可能影響</a:t>
            </a:r>
            <a:endParaRPr lang="en-US" sz="732" dirty="0"/>
          </a:p>
        </p:txBody>
      </p:sp>
      <p:sp>
        <p:nvSpPr>
          <p:cNvPr id="48" name="Text 42"/>
          <p:cNvSpPr/>
          <p:nvPr/>
        </p:nvSpPr>
        <p:spPr>
          <a:xfrm>
            <a:off x="4714875" y="1198648"/>
            <a:ext cx="721854" cy="23931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缺失值</a:t>
            </a:r>
            <a:endParaRPr lang="en-US" sz="732" dirty="0"/>
          </a:p>
        </p:txBody>
      </p:sp>
      <p:sp>
        <p:nvSpPr>
          <p:cNvPr id="49" name="Text 43"/>
          <p:cNvSpPr/>
          <p:nvPr/>
        </p:nvSpPr>
        <p:spPr>
          <a:xfrm>
            <a:off x="5493878" y="1248654"/>
            <a:ext cx="7337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product_name: </a:t>
            </a:r>
            <a:endParaRPr lang="en-US" sz="732" dirty="0"/>
          </a:p>
        </p:txBody>
      </p:sp>
      <p:sp>
        <p:nvSpPr>
          <p:cNvPr id="50" name="Text 44"/>
          <p:cNvSpPr/>
          <p:nvPr/>
        </p:nvSpPr>
        <p:spPr>
          <a:xfrm>
            <a:off x="6227675" y="1248654"/>
            <a:ext cx="2699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NULL</a:t>
            </a:r>
            <a:endParaRPr lang="en-US" sz="732" dirty="0"/>
          </a:p>
        </p:txBody>
      </p:sp>
      <p:sp>
        <p:nvSpPr>
          <p:cNvPr id="51" name="Text 45"/>
          <p:cNvSpPr/>
          <p:nvPr/>
        </p:nvSpPr>
        <p:spPr>
          <a:xfrm>
            <a:off x="7170902" y="1198648"/>
            <a:ext cx="1544473" cy="23931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無法識別商品，報表不完整</a:t>
            </a:r>
            <a:endParaRPr lang="en-US" sz="732" dirty="0"/>
          </a:p>
        </p:txBody>
      </p:sp>
      <p:sp>
        <p:nvSpPr>
          <p:cNvPr id="52" name="Shape 46"/>
          <p:cNvSpPr/>
          <p:nvPr/>
        </p:nvSpPr>
        <p:spPr>
          <a:xfrm>
            <a:off x="4714875" y="1437964"/>
            <a:ext cx="4000500" cy="242888"/>
          </a:xfrm>
          <a:prstGeom prst="rect">
            <a:avLst/>
          </a:prstGeom>
          <a:solidFill>
            <a:srgbClr val="ECF0F1">
              <a:alpha val="50000"/>
            </a:srgbClr>
          </a:solidFill>
          <a:ln/>
        </p:spPr>
      </p:sp>
      <p:sp>
        <p:nvSpPr>
          <p:cNvPr id="53" name="Text 47"/>
          <p:cNvSpPr/>
          <p:nvPr/>
        </p:nvSpPr>
        <p:spPr>
          <a:xfrm>
            <a:off x="4714875" y="1437964"/>
            <a:ext cx="721854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異常值</a:t>
            </a:r>
            <a:endParaRPr lang="en-US" sz="732" dirty="0"/>
          </a:p>
        </p:txBody>
      </p:sp>
      <p:sp>
        <p:nvSpPr>
          <p:cNvPr id="54" name="Text 48"/>
          <p:cNvSpPr/>
          <p:nvPr/>
        </p:nvSpPr>
        <p:spPr>
          <a:xfrm>
            <a:off x="5493878" y="1491542"/>
            <a:ext cx="2858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price: </a:t>
            </a:r>
            <a:endParaRPr lang="en-US" sz="732" dirty="0"/>
          </a:p>
        </p:txBody>
      </p:sp>
      <p:sp>
        <p:nvSpPr>
          <p:cNvPr id="55" name="Text 49"/>
          <p:cNvSpPr/>
          <p:nvPr/>
        </p:nvSpPr>
        <p:spPr>
          <a:xfrm>
            <a:off x="5779740" y="1491542"/>
            <a:ext cx="2038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-500</a:t>
            </a:r>
            <a:endParaRPr lang="en-US" sz="732" dirty="0"/>
          </a:p>
        </p:txBody>
      </p:sp>
      <p:sp>
        <p:nvSpPr>
          <p:cNvPr id="56" name="Text 50"/>
          <p:cNvSpPr/>
          <p:nvPr/>
        </p:nvSpPr>
        <p:spPr>
          <a:xfrm>
            <a:off x="7170902" y="1437964"/>
            <a:ext cx="1544473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統計計算錯誤，平均值失真</a:t>
            </a:r>
            <a:endParaRPr lang="en-US" sz="732" dirty="0"/>
          </a:p>
        </p:txBody>
      </p:sp>
      <p:sp>
        <p:nvSpPr>
          <p:cNvPr id="57" name="Text 51"/>
          <p:cNvSpPr/>
          <p:nvPr/>
        </p:nvSpPr>
        <p:spPr>
          <a:xfrm>
            <a:off x="4714875" y="1680851"/>
            <a:ext cx="721854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格式不一致</a:t>
            </a:r>
            <a:endParaRPr lang="en-US" sz="732" dirty="0"/>
          </a:p>
        </p:txBody>
      </p:sp>
      <p:sp>
        <p:nvSpPr>
          <p:cNvPr id="58" name="Text 52"/>
          <p:cNvSpPr/>
          <p:nvPr/>
        </p:nvSpPr>
        <p:spPr>
          <a:xfrm>
            <a:off x="5493878" y="1734429"/>
            <a:ext cx="2629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date: </a:t>
            </a:r>
            <a:endParaRPr lang="en-US" sz="732" dirty="0"/>
          </a:p>
        </p:txBody>
      </p:sp>
      <p:sp>
        <p:nvSpPr>
          <p:cNvPr id="59" name="Text 53"/>
          <p:cNvSpPr/>
          <p:nvPr/>
        </p:nvSpPr>
        <p:spPr>
          <a:xfrm>
            <a:off x="5756830" y="1734429"/>
            <a:ext cx="4258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01/15/23</a:t>
            </a:r>
            <a:endParaRPr lang="en-US" sz="732" dirty="0"/>
          </a:p>
        </p:txBody>
      </p:sp>
      <p:sp>
        <p:nvSpPr>
          <p:cNvPr id="60" name="Text 54"/>
          <p:cNvSpPr/>
          <p:nvPr/>
        </p:nvSpPr>
        <p:spPr>
          <a:xfrm>
            <a:off x="6182692" y="1734429"/>
            <a:ext cx="1507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vs </a:t>
            </a:r>
            <a:endParaRPr lang="en-US" sz="732" dirty="0"/>
          </a:p>
        </p:txBody>
      </p:sp>
      <p:sp>
        <p:nvSpPr>
          <p:cNvPr id="61" name="Text 55"/>
          <p:cNvSpPr/>
          <p:nvPr/>
        </p:nvSpPr>
        <p:spPr>
          <a:xfrm>
            <a:off x="6333436" y="1734429"/>
            <a:ext cx="5220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2023-01-15</a:t>
            </a:r>
            <a:endParaRPr lang="en-US" sz="732" dirty="0"/>
          </a:p>
        </p:txBody>
      </p:sp>
      <p:sp>
        <p:nvSpPr>
          <p:cNvPr id="62" name="Text 56"/>
          <p:cNvSpPr/>
          <p:nvPr/>
        </p:nvSpPr>
        <p:spPr>
          <a:xfrm>
            <a:off x="7170902" y="1680851"/>
            <a:ext cx="1544473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排序錯誤，時間分析困難</a:t>
            </a:r>
            <a:endParaRPr lang="en-US" sz="732" dirty="0"/>
          </a:p>
        </p:txBody>
      </p:sp>
      <p:sp>
        <p:nvSpPr>
          <p:cNvPr id="63" name="Shape 57"/>
          <p:cNvSpPr/>
          <p:nvPr/>
        </p:nvSpPr>
        <p:spPr>
          <a:xfrm>
            <a:off x="4714875" y="1923739"/>
            <a:ext cx="4000500" cy="242888"/>
          </a:xfrm>
          <a:prstGeom prst="rect">
            <a:avLst/>
          </a:prstGeom>
          <a:solidFill>
            <a:srgbClr val="ECF0F1">
              <a:alpha val="50000"/>
            </a:srgbClr>
          </a:solidFill>
          <a:ln/>
        </p:spPr>
      </p:sp>
      <p:sp>
        <p:nvSpPr>
          <p:cNvPr id="64" name="Text 58"/>
          <p:cNvSpPr/>
          <p:nvPr/>
        </p:nvSpPr>
        <p:spPr>
          <a:xfrm>
            <a:off x="4714875" y="1923739"/>
            <a:ext cx="721854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重複資料</a:t>
            </a:r>
            <a:endParaRPr lang="en-US" sz="732" dirty="0"/>
          </a:p>
        </p:txBody>
      </p:sp>
      <p:sp>
        <p:nvSpPr>
          <p:cNvPr id="65" name="Text 59"/>
          <p:cNvSpPr/>
          <p:nvPr/>
        </p:nvSpPr>
        <p:spPr>
          <a:xfrm>
            <a:off x="5436728" y="1923739"/>
            <a:ext cx="1734173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同一筆交易記錄出現兩次</a:t>
            </a:r>
            <a:endParaRPr lang="en-US" sz="732" dirty="0"/>
          </a:p>
        </p:txBody>
      </p:sp>
      <p:sp>
        <p:nvSpPr>
          <p:cNvPr id="66" name="Text 60"/>
          <p:cNvSpPr/>
          <p:nvPr/>
        </p:nvSpPr>
        <p:spPr>
          <a:xfrm>
            <a:off x="7170902" y="1923739"/>
            <a:ext cx="1544473" cy="24288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統計數字膨脹，結果不準確</a:t>
            </a:r>
            <a:endParaRPr lang="en-US" sz="732" dirty="0"/>
          </a:p>
        </p:txBody>
      </p:sp>
      <p:sp>
        <p:nvSpPr>
          <p:cNvPr id="67" name="Text 61"/>
          <p:cNvSpPr/>
          <p:nvPr/>
        </p:nvSpPr>
        <p:spPr>
          <a:xfrm>
            <a:off x="4714875" y="2255923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思考問題：</a:t>
            </a:r>
            <a:endParaRPr lang="en-US" sz="837" dirty="0"/>
          </a:p>
        </p:txBody>
      </p:sp>
      <p:sp>
        <p:nvSpPr>
          <p:cNvPr id="68" name="Text 62"/>
          <p:cNvSpPr/>
          <p:nvPr/>
        </p:nvSpPr>
        <p:spPr>
          <a:xfrm>
            <a:off x="4857750" y="245594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對於每種問題，你會選擇哪種處理方法？</a:t>
            </a:r>
            <a:endParaRPr lang="en-US" sz="837" dirty="0"/>
          </a:p>
        </p:txBody>
      </p:sp>
      <p:sp>
        <p:nvSpPr>
          <p:cNvPr id="69" name="Text 63"/>
          <p:cNvSpPr/>
          <p:nvPr/>
        </p:nvSpPr>
        <p:spPr>
          <a:xfrm>
            <a:off x="4857750" y="262739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處理前應該如何備份原始資料？</a:t>
            </a:r>
            <a:endParaRPr lang="en-US" sz="837" dirty="0"/>
          </a:p>
        </p:txBody>
      </p:sp>
      <p:sp>
        <p:nvSpPr>
          <p:cNvPr id="70" name="Text 64"/>
          <p:cNvSpPr/>
          <p:nvPr/>
        </p:nvSpPr>
        <p:spPr>
          <a:xfrm>
            <a:off x="4857750" y="279884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如何記錄你的資料清理過程？</a:t>
            </a:r>
            <a:endParaRPr lang="en-US" sz="837" dirty="0"/>
          </a:p>
        </p:txBody>
      </p:sp>
      <p:sp>
        <p:nvSpPr>
          <p:cNvPr id="72" name="Text 65"/>
          <p:cNvSpPr/>
          <p:nvPr/>
        </p:nvSpPr>
        <p:spPr>
          <a:xfrm>
            <a:off x="7300913" y="5606343"/>
            <a:ext cx="170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第二堂課：資料操作、資料清理與整併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247996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363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1543078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範例清理操作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50119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907256"/>
            <a:ext cx="16843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資料清理範例 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285750" y="1235869"/>
            <a:ext cx="4214813" cy="2996803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392906" y="1343025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 Pandas 處理常見的資料清理問題：</a:t>
            </a:r>
            <a:endParaRPr lang="en-US" sz="837" dirty="0"/>
          </a:p>
        </p:txBody>
      </p:sp>
      <p:sp>
        <p:nvSpPr>
          <p:cNvPr id="8" name="Shape 4"/>
          <p:cNvSpPr/>
          <p:nvPr/>
        </p:nvSpPr>
        <p:spPr>
          <a:xfrm>
            <a:off x="392906" y="1585913"/>
            <a:ext cx="4000500" cy="2539603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9" name="Text 5"/>
          <p:cNvSpPr/>
          <p:nvPr/>
        </p:nvSpPr>
        <p:spPr>
          <a:xfrm>
            <a:off x="478631" y="1676995"/>
            <a:ext cx="7342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載入套件與資料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478631" y="1816298"/>
            <a:ext cx="9474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 pandas as pd</a:t>
            </a:r>
            <a:endParaRPr lang="en-US" sz="680" dirty="0"/>
          </a:p>
        </p:txBody>
      </p:sp>
      <p:sp>
        <p:nvSpPr>
          <p:cNvPr id="11" name="Text 7"/>
          <p:cNvSpPr/>
          <p:nvPr/>
        </p:nvSpPr>
        <p:spPr>
          <a:xfrm>
            <a:off x="478631" y="1955602"/>
            <a:ext cx="14322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 = pd.read_csv('products.csv')</a:t>
            </a:r>
            <a:endParaRPr lang="en-US" sz="680" dirty="0"/>
          </a:p>
        </p:txBody>
      </p:sp>
      <p:sp>
        <p:nvSpPr>
          <p:cNvPr id="12" name="Text 8"/>
          <p:cNvSpPr/>
          <p:nvPr/>
        </p:nvSpPr>
        <p:spPr>
          <a:xfrm>
            <a:off x="478631" y="2234208"/>
            <a:ext cx="65063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1. 處理缺失值</a:t>
            </a:r>
            <a:endParaRPr lang="en-US" sz="680" dirty="0"/>
          </a:p>
        </p:txBody>
      </p:sp>
      <p:sp>
        <p:nvSpPr>
          <p:cNvPr id="13" name="Text 9"/>
          <p:cNvSpPr/>
          <p:nvPr/>
        </p:nvSpPr>
        <p:spPr>
          <a:xfrm>
            <a:off x="478631" y="2373511"/>
            <a:ext cx="30495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df['product_name'] = df['product_name'].fillna('Unknown Product')</a:t>
            </a:r>
            <a:endParaRPr lang="en-US" sz="680" dirty="0"/>
          </a:p>
        </p:txBody>
      </p:sp>
      <p:sp>
        <p:nvSpPr>
          <p:cNvPr id="14" name="Text 10"/>
          <p:cNvSpPr/>
          <p:nvPr/>
        </p:nvSpPr>
        <p:spPr>
          <a:xfrm>
            <a:off x="478631" y="2512814"/>
            <a:ext cx="37258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df['price'] = df.groupby('category')['price'].transform(lambda x: x.fillna(x.mean()))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478631" y="2791420"/>
            <a:ext cx="65063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2. 處理異常值</a:t>
            </a:r>
            <a:endParaRPr lang="en-US" sz="680" dirty="0"/>
          </a:p>
        </p:txBody>
      </p:sp>
      <p:sp>
        <p:nvSpPr>
          <p:cNvPr id="16" name="Text 12"/>
          <p:cNvSpPr/>
          <p:nvPr/>
        </p:nvSpPr>
        <p:spPr>
          <a:xfrm>
            <a:off x="478631" y="2930723"/>
            <a:ext cx="13854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df.loc[df['price'] &lt; 0, 'price'] = 0</a:t>
            </a:r>
            <a:endParaRPr lang="en-US" sz="680" dirty="0"/>
          </a:p>
        </p:txBody>
      </p:sp>
      <p:sp>
        <p:nvSpPr>
          <p:cNvPr id="17" name="Text 13"/>
          <p:cNvSpPr/>
          <p:nvPr/>
        </p:nvSpPr>
        <p:spPr>
          <a:xfrm>
            <a:off x="478631" y="3209330"/>
            <a:ext cx="5577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3. 統一格式</a:t>
            </a:r>
            <a:endParaRPr lang="en-US" sz="680" dirty="0"/>
          </a:p>
        </p:txBody>
      </p:sp>
      <p:sp>
        <p:nvSpPr>
          <p:cNvPr id="18" name="Text 14"/>
          <p:cNvSpPr/>
          <p:nvPr/>
        </p:nvSpPr>
        <p:spPr>
          <a:xfrm>
            <a:off x="478631" y="3348633"/>
            <a:ext cx="22762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df['category'] = df['category'].str.lower().str.strip()</a:t>
            </a:r>
            <a:endParaRPr lang="en-US" sz="680" dirty="0"/>
          </a:p>
        </p:txBody>
      </p:sp>
      <p:sp>
        <p:nvSpPr>
          <p:cNvPr id="19" name="Text 15"/>
          <p:cNvSpPr/>
          <p:nvPr/>
        </p:nvSpPr>
        <p:spPr>
          <a:xfrm>
            <a:off x="478631" y="3627239"/>
            <a:ext cx="102214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4. 移除重複資料與儲存</a:t>
            </a:r>
            <a:endParaRPr lang="en-US" sz="680" dirty="0"/>
          </a:p>
        </p:txBody>
      </p:sp>
      <p:sp>
        <p:nvSpPr>
          <p:cNvPr id="20" name="Text 16"/>
          <p:cNvSpPr/>
          <p:nvPr/>
        </p:nvSpPr>
        <p:spPr>
          <a:xfrm>
            <a:off x="478631" y="3766542"/>
            <a:ext cx="11123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 = df.drop_duplicates()</a:t>
            </a:r>
            <a:endParaRPr lang="en-US" sz="680" dirty="0"/>
          </a:p>
        </p:txBody>
      </p:sp>
      <p:sp>
        <p:nvSpPr>
          <p:cNvPr id="21" name="Text 17"/>
          <p:cNvSpPr/>
          <p:nvPr/>
        </p:nvSpPr>
        <p:spPr>
          <a:xfrm>
            <a:off x="478631" y="3905845"/>
            <a:ext cx="20940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df.to_csv('products_cleaned.csv', index=False)</a:t>
            </a:r>
            <a:endParaRPr lang="en-US" sz="680" dirty="0"/>
          </a:p>
        </p:txBody>
      </p:sp>
      <p:sp>
        <p:nvSpPr>
          <p:cNvPr id="23" name="Shape 18"/>
          <p:cNvSpPr/>
          <p:nvPr/>
        </p:nvSpPr>
        <p:spPr>
          <a:xfrm>
            <a:off x="4607719" y="1244799"/>
            <a:ext cx="4214813" cy="2336006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394818"/>
            <a:ext cx="171450" cy="1714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57762" y="1351955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清理前後對比 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750594" y="1716286"/>
            <a:ext cx="1928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清理前</a:t>
            </a:r>
            <a:endParaRPr lang="en-US" sz="837" dirty="0"/>
          </a:p>
        </p:txBody>
      </p:sp>
      <p:sp>
        <p:nvSpPr>
          <p:cNvPr id="27" name="Shape 21"/>
          <p:cNvSpPr/>
          <p:nvPr/>
        </p:nvSpPr>
        <p:spPr>
          <a:xfrm>
            <a:off x="4750594" y="1923455"/>
            <a:ext cx="1928813" cy="8858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Text 22"/>
          <p:cNvSpPr/>
          <p:nvPr/>
        </p:nvSpPr>
        <p:spPr>
          <a:xfrm>
            <a:off x="4807744" y="1985963"/>
            <a:ext cx="16301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product_id,product_name,category,price</a:t>
            </a:r>
            <a:endParaRPr lang="en-US" sz="628" dirty="0"/>
          </a:p>
        </p:txBody>
      </p:sp>
      <p:sp>
        <p:nvSpPr>
          <p:cNvPr id="29" name="Text 23"/>
          <p:cNvSpPr/>
          <p:nvPr/>
        </p:nvSpPr>
        <p:spPr>
          <a:xfrm>
            <a:off x="4807744" y="2114550"/>
            <a:ext cx="12274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P001,Laptop,Electronics,15000</a:t>
            </a:r>
            <a:endParaRPr lang="en-US" sz="628" dirty="0"/>
          </a:p>
        </p:txBody>
      </p:sp>
      <p:sp>
        <p:nvSpPr>
          <p:cNvPr id="30" name="Text 24"/>
          <p:cNvSpPr/>
          <p:nvPr/>
        </p:nvSpPr>
        <p:spPr>
          <a:xfrm>
            <a:off x="4807744" y="2243138"/>
            <a:ext cx="9468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P002,,electronics,12000</a:t>
            </a:r>
            <a:endParaRPr lang="en-US" sz="628" dirty="0"/>
          </a:p>
        </p:txBody>
      </p:sp>
      <p:sp>
        <p:nvSpPr>
          <p:cNvPr id="31" name="Text 25"/>
          <p:cNvSpPr/>
          <p:nvPr/>
        </p:nvSpPr>
        <p:spPr>
          <a:xfrm>
            <a:off x="4807744" y="2371725"/>
            <a:ext cx="138834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P003,Headphones,Electronics,-500</a:t>
            </a:r>
            <a:endParaRPr lang="en-US" sz="628" dirty="0"/>
          </a:p>
        </p:txBody>
      </p:sp>
      <p:sp>
        <p:nvSpPr>
          <p:cNvPr id="32" name="Text 26"/>
          <p:cNvSpPr/>
          <p:nvPr/>
        </p:nvSpPr>
        <p:spPr>
          <a:xfrm>
            <a:off x="4807744" y="2500313"/>
            <a:ext cx="122931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P004,Coffee Maker,Home,2500</a:t>
            </a:r>
            <a:endParaRPr lang="en-US" sz="628" dirty="0"/>
          </a:p>
        </p:txBody>
      </p:sp>
      <p:sp>
        <p:nvSpPr>
          <p:cNvPr id="33" name="Text 27"/>
          <p:cNvSpPr/>
          <p:nvPr/>
        </p:nvSpPr>
        <p:spPr>
          <a:xfrm>
            <a:off x="4807744" y="2628900"/>
            <a:ext cx="98156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P005,Blender,home,NaN </a:t>
            </a:r>
            <a:endParaRPr lang="en-US" sz="628" dirty="0"/>
          </a:p>
        </p:txBody>
      </p:sp>
      <p:sp>
        <p:nvSpPr>
          <p:cNvPr id="34" name="Text 28"/>
          <p:cNvSpPr/>
          <p:nvPr/>
        </p:nvSpPr>
        <p:spPr>
          <a:xfrm>
            <a:off x="6750844" y="1716286"/>
            <a:ext cx="1928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清理後</a:t>
            </a:r>
            <a:endParaRPr lang="en-US" sz="837" dirty="0"/>
          </a:p>
        </p:txBody>
      </p:sp>
      <p:sp>
        <p:nvSpPr>
          <p:cNvPr id="35" name="Shape 29"/>
          <p:cNvSpPr/>
          <p:nvPr/>
        </p:nvSpPr>
        <p:spPr>
          <a:xfrm>
            <a:off x="6750844" y="1923455"/>
            <a:ext cx="1928813" cy="8858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6" name="Text 30"/>
          <p:cNvSpPr/>
          <p:nvPr/>
        </p:nvSpPr>
        <p:spPr>
          <a:xfrm>
            <a:off x="6807994" y="1985963"/>
            <a:ext cx="16301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product_id,product_name,category,price</a:t>
            </a:r>
            <a:endParaRPr lang="en-US" sz="628" dirty="0"/>
          </a:p>
        </p:txBody>
      </p:sp>
      <p:sp>
        <p:nvSpPr>
          <p:cNvPr id="37" name="Text 31"/>
          <p:cNvSpPr/>
          <p:nvPr/>
        </p:nvSpPr>
        <p:spPr>
          <a:xfrm>
            <a:off x="6807994" y="2114550"/>
            <a:ext cx="122811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P001,Laptop,electronics,15000</a:t>
            </a:r>
            <a:endParaRPr lang="en-US" sz="628" dirty="0"/>
          </a:p>
        </p:txBody>
      </p:sp>
      <p:sp>
        <p:nvSpPr>
          <p:cNvPr id="38" name="Text 32"/>
          <p:cNvSpPr/>
          <p:nvPr/>
        </p:nvSpPr>
        <p:spPr>
          <a:xfrm>
            <a:off x="6807994" y="2243138"/>
            <a:ext cx="166753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P002,Unknown Product,electronics,12000</a:t>
            </a:r>
            <a:endParaRPr lang="en-US" sz="628" dirty="0"/>
          </a:p>
        </p:txBody>
      </p:sp>
      <p:sp>
        <p:nvSpPr>
          <p:cNvPr id="39" name="Text 33"/>
          <p:cNvSpPr/>
          <p:nvPr/>
        </p:nvSpPr>
        <p:spPr>
          <a:xfrm>
            <a:off x="6807994" y="2371725"/>
            <a:ext cx="126335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P003,Headphones,electronics,0</a:t>
            </a:r>
            <a:endParaRPr lang="en-US" sz="628" dirty="0"/>
          </a:p>
        </p:txBody>
      </p:sp>
      <p:sp>
        <p:nvSpPr>
          <p:cNvPr id="40" name="Text 34"/>
          <p:cNvSpPr/>
          <p:nvPr/>
        </p:nvSpPr>
        <p:spPr>
          <a:xfrm>
            <a:off x="6807994" y="2500313"/>
            <a:ext cx="121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P004,Coffee Maker,home,2500</a:t>
            </a:r>
            <a:endParaRPr lang="en-US" sz="628" dirty="0"/>
          </a:p>
        </p:txBody>
      </p:sp>
      <p:sp>
        <p:nvSpPr>
          <p:cNvPr id="41" name="Text 35"/>
          <p:cNvSpPr/>
          <p:nvPr/>
        </p:nvSpPr>
        <p:spPr>
          <a:xfrm>
            <a:off x="6807994" y="2628900"/>
            <a:ext cx="99931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P005,Blender,home,2500 </a:t>
            </a:r>
            <a:endParaRPr lang="en-US" sz="628" dirty="0"/>
          </a:p>
        </p:txBody>
      </p:sp>
      <p:sp>
        <p:nvSpPr>
          <p:cNvPr id="42" name="Text 36"/>
          <p:cNvSpPr/>
          <p:nvPr/>
        </p:nvSpPr>
        <p:spPr>
          <a:xfrm>
            <a:off x="4714875" y="2930724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主要清理操作：</a:t>
            </a:r>
            <a:endParaRPr lang="en-US" sz="837" dirty="0"/>
          </a:p>
        </p:txBody>
      </p:sp>
      <p:sp>
        <p:nvSpPr>
          <p:cNvPr id="43" name="Text 37"/>
          <p:cNvSpPr/>
          <p:nvPr/>
        </p:nvSpPr>
        <p:spPr>
          <a:xfrm>
            <a:off x="4857750" y="3130749"/>
            <a:ext cx="1800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填補缺失的產品名稱</a:t>
            </a:r>
            <a:endParaRPr lang="en-US" sz="837" dirty="0"/>
          </a:p>
        </p:txBody>
      </p:sp>
      <p:sp>
        <p:nvSpPr>
          <p:cNvPr id="44" name="Text 38"/>
          <p:cNvSpPr/>
          <p:nvPr/>
        </p:nvSpPr>
        <p:spPr>
          <a:xfrm>
            <a:off x="4857750" y="3302199"/>
            <a:ext cx="1800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將負數價格修正為0</a:t>
            </a:r>
            <a:endParaRPr lang="en-US" sz="837" dirty="0"/>
          </a:p>
        </p:txBody>
      </p:sp>
      <p:sp>
        <p:nvSpPr>
          <p:cNvPr id="45" name="Text 39"/>
          <p:cNvSpPr/>
          <p:nvPr/>
        </p:nvSpPr>
        <p:spPr>
          <a:xfrm>
            <a:off x="6915150" y="3130749"/>
            <a:ext cx="1800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統一類別名稱格式</a:t>
            </a:r>
            <a:endParaRPr lang="en-US" sz="837" dirty="0"/>
          </a:p>
        </p:txBody>
      </p:sp>
      <p:sp>
        <p:nvSpPr>
          <p:cNvPr id="46" name="Text 40"/>
          <p:cNvSpPr/>
          <p:nvPr/>
        </p:nvSpPr>
        <p:spPr>
          <a:xfrm>
            <a:off x="6915150" y="3302199"/>
            <a:ext cx="1800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填補缺失價格為平均值</a:t>
            </a:r>
            <a:endParaRPr lang="en-US" sz="837" dirty="0"/>
          </a:p>
        </p:txBody>
      </p:sp>
    </p:spTree>
    <p:extLst>
      <p:ext uri="{BB962C8B-B14F-4D97-AF65-F5344CB8AC3E}">
        <p14:creationId xmlns:p14="http://schemas.microsoft.com/office/powerpoint/2010/main" val="311235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07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1196"/>
            <a:ext cx="2976042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練習3：實際操作資料清理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705565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8638" y="662702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練習目標 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285750" y="991315"/>
            <a:ext cx="4214813" cy="1735931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651225" y="1091327"/>
            <a:ext cx="458930" cy="183952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ads.csv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429670" y="1118894"/>
            <a:ext cx="1181414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 err="1" smtClean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進行以下資料清理操作</a:t>
            </a: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</a:t>
            </a:r>
            <a:endParaRPr lang="en-US" sz="837" dirty="0"/>
          </a:p>
        </p:txBody>
      </p:sp>
      <p:sp>
        <p:nvSpPr>
          <p:cNvPr id="11" name="Shape 7"/>
          <p:cNvSpPr/>
          <p:nvPr/>
        </p:nvSpPr>
        <p:spPr>
          <a:xfrm>
            <a:off x="392906" y="1269921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2" name="Text 8"/>
          <p:cNvSpPr/>
          <p:nvPr/>
        </p:nvSpPr>
        <p:spPr>
          <a:xfrm>
            <a:off x="392906" y="126992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13" name="Text 9"/>
          <p:cNvSpPr/>
          <p:nvPr/>
        </p:nvSpPr>
        <p:spPr>
          <a:xfrm>
            <a:off x="664369" y="1269921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處理空值</a:t>
            </a:r>
            <a:endParaRPr lang="en-US" sz="837" dirty="0"/>
          </a:p>
        </p:txBody>
      </p:sp>
      <p:sp>
        <p:nvSpPr>
          <p:cNvPr id="15" name="Shape 11"/>
          <p:cNvSpPr/>
          <p:nvPr/>
        </p:nvSpPr>
        <p:spPr>
          <a:xfrm>
            <a:off x="392906" y="1719977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6" name="Text 12"/>
          <p:cNvSpPr/>
          <p:nvPr/>
        </p:nvSpPr>
        <p:spPr>
          <a:xfrm>
            <a:off x="392906" y="171997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7" name="Text 13"/>
          <p:cNvSpPr/>
          <p:nvPr/>
        </p:nvSpPr>
        <p:spPr>
          <a:xfrm>
            <a:off x="664369" y="1741293"/>
            <a:ext cx="537006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zh-TW" altLang="en-US" sz="837" b="1" dirty="0" smtClean="0">
                <a:solidFill>
                  <a:srgbClr val="2C3E50"/>
                </a:solidFill>
                <a:latin typeface="Noto Sans" pitchFamily="34" charset="0"/>
              </a:rPr>
              <a:t>處理重複值</a:t>
            </a:r>
            <a:endParaRPr lang="en-US" sz="837" dirty="0"/>
          </a:p>
        </p:txBody>
      </p:sp>
      <p:sp>
        <p:nvSpPr>
          <p:cNvPr id="18" name="Text 14"/>
          <p:cNvSpPr/>
          <p:nvPr/>
        </p:nvSpPr>
        <p:spPr>
          <a:xfrm>
            <a:off x="664369" y="1934175"/>
            <a:ext cx="859210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zh-TW" alt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確認會員重複資料</a:t>
            </a:r>
            <a:endParaRPr lang="en-US" sz="837" dirty="0">
              <a:solidFill>
                <a:srgbClr val="2C3E5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92906" y="2170034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0" name="Text 16"/>
          <p:cNvSpPr/>
          <p:nvPr/>
        </p:nvSpPr>
        <p:spPr>
          <a:xfrm>
            <a:off x="392906" y="217003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21" name="Text 17"/>
          <p:cNvSpPr/>
          <p:nvPr/>
        </p:nvSpPr>
        <p:spPr>
          <a:xfrm>
            <a:off x="664369" y="2191350"/>
            <a:ext cx="537006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zh-TW" altLang="en-US" sz="837" b="1" dirty="0" smtClean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處理異常值</a:t>
            </a:r>
            <a:endParaRPr lang="en-US" sz="837" dirty="0"/>
          </a:p>
        </p:txBody>
      </p:sp>
      <p:sp>
        <p:nvSpPr>
          <p:cNvPr id="22" name="Text 18"/>
          <p:cNvSpPr/>
          <p:nvPr/>
        </p:nvSpPr>
        <p:spPr>
          <a:xfrm>
            <a:off x="664369" y="2384231"/>
            <a:ext cx="859210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zh-TW" altLang="en-US" sz="837" dirty="0" smtClean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調整商品金額異常</a:t>
            </a:r>
            <a:endParaRPr lang="en-US" sz="837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877265"/>
            <a:ext cx="214313" cy="1714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71500" y="2834402"/>
            <a:ext cx="13414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實作範例 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285750" y="3163015"/>
            <a:ext cx="4214813" cy="1907381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392906" y="3305890"/>
            <a:ext cx="4000500" cy="165735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7" name="Text 22"/>
          <p:cNvSpPr/>
          <p:nvPr/>
        </p:nvSpPr>
        <p:spPr>
          <a:xfrm>
            <a:off x="450056" y="3368398"/>
            <a:ext cx="4205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載入資料</a:t>
            </a:r>
            <a:endParaRPr lang="en-US" sz="628" dirty="0"/>
          </a:p>
        </p:txBody>
      </p:sp>
      <p:sp>
        <p:nvSpPr>
          <p:cNvPr id="28" name="Text 23"/>
          <p:cNvSpPr/>
          <p:nvPr/>
        </p:nvSpPr>
        <p:spPr>
          <a:xfrm>
            <a:off x="450056" y="3496985"/>
            <a:ext cx="8745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 pandas as pd</a:t>
            </a:r>
            <a:endParaRPr lang="en-US" sz="628" dirty="0"/>
          </a:p>
        </p:txBody>
      </p:sp>
      <p:sp>
        <p:nvSpPr>
          <p:cNvPr id="29" name="Text 24"/>
          <p:cNvSpPr/>
          <p:nvPr/>
        </p:nvSpPr>
        <p:spPr>
          <a:xfrm>
            <a:off x="450056" y="3625573"/>
            <a:ext cx="12747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ads_df = pd.read_csv('ads.csv')</a:t>
            </a:r>
            <a:endParaRPr lang="en-US" sz="628" dirty="0"/>
          </a:p>
        </p:txBody>
      </p:sp>
      <p:sp>
        <p:nvSpPr>
          <p:cNvPr id="30" name="Text 25"/>
          <p:cNvSpPr/>
          <p:nvPr/>
        </p:nvSpPr>
        <p:spPr>
          <a:xfrm>
            <a:off x="450056" y="3882748"/>
            <a:ext cx="51488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1. 處理空值</a:t>
            </a:r>
            <a:endParaRPr lang="en-US" sz="628" dirty="0"/>
          </a:p>
        </p:txBody>
      </p:sp>
      <p:sp>
        <p:nvSpPr>
          <p:cNvPr id="31" name="Text 26"/>
          <p:cNvSpPr/>
          <p:nvPr/>
        </p:nvSpPr>
        <p:spPr>
          <a:xfrm>
            <a:off x="450056" y="4011335"/>
            <a:ext cx="26873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ads_df['ad_description'] = ads_df['ad_description'].fillna('無描述')</a:t>
            </a:r>
            <a:endParaRPr lang="en-US" sz="628" dirty="0"/>
          </a:p>
        </p:txBody>
      </p:sp>
      <p:sp>
        <p:nvSpPr>
          <p:cNvPr id="32" name="Text 27"/>
          <p:cNvSpPr/>
          <p:nvPr/>
        </p:nvSpPr>
        <p:spPr>
          <a:xfrm>
            <a:off x="450056" y="4268510"/>
            <a:ext cx="51488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2. 欄位統一</a:t>
            </a:r>
            <a:endParaRPr lang="en-US" sz="628" dirty="0"/>
          </a:p>
        </p:txBody>
      </p:sp>
      <p:sp>
        <p:nvSpPr>
          <p:cNvPr id="33" name="Text 28"/>
          <p:cNvSpPr/>
          <p:nvPr/>
        </p:nvSpPr>
        <p:spPr>
          <a:xfrm>
            <a:off x="450056" y="4397098"/>
            <a:ext cx="19683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ads_df['ad_type'] = ads_df['ad_type'].str.upper()</a:t>
            </a:r>
            <a:endParaRPr lang="en-US" sz="628" dirty="0"/>
          </a:p>
        </p:txBody>
      </p:sp>
      <p:sp>
        <p:nvSpPr>
          <p:cNvPr id="34" name="Text 29"/>
          <p:cNvSpPr/>
          <p:nvPr/>
        </p:nvSpPr>
        <p:spPr>
          <a:xfrm>
            <a:off x="450056" y="4654273"/>
            <a:ext cx="68633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3. 刪除測試資料</a:t>
            </a:r>
            <a:endParaRPr lang="en-US" sz="628" dirty="0"/>
          </a:p>
        </p:txBody>
      </p:sp>
      <p:sp>
        <p:nvSpPr>
          <p:cNvPr id="35" name="Text 30"/>
          <p:cNvSpPr/>
          <p:nvPr/>
        </p:nvSpPr>
        <p:spPr>
          <a:xfrm>
            <a:off x="450056" y="4782860"/>
            <a:ext cx="34660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ads_df = ads_df[~ads_df['ad_name'].str.contains('TEST|測試', case=False, na=False)]</a:t>
            </a:r>
            <a:endParaRPr lang="en-US" sz="628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0911" y="962740"/>
            <a:ext cx="3739865" cy="1785910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4643438" y="2862949"/>
            <a:ext cx="4214813" cy="1907381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594" y="3012968"/>
            <a:ext cx="171450" cy="17145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993481" y="2970106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驗證清理結果 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4750594" y="3298718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清理後，請檢查以下幾點確認資料品質：</a:t>
            </a:r>
            <a:endParaRPr lang="en-US" sz="837" dirty="0"/>
          </a:p>
        </p:txBody>
      </p:sp>
      <p:sp>
        <p:nvSpPr>
          <p:cNvPr id="41" name="Text 34"/>
          <p:cNvSpPr/>
          <p:nvPr/>
        </p:nvSpPr>
        <p:spPr>
          <a:xfrm>
            <a:off x="4893469" y="3534462"/>
            <a:ext cx="342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完整性</a:t>
            </a:r>
            <a:endParaRPr lang="en-US" sz="837" dirty="0"/>
          </a:p>
        </p:txBody>
      </p:sp>
      <p:sp>
        <p:nvSpPr>
          <p:cNvPr id="42" name="Text 35"/>
          <p:cNvSpPr/>
          <p:nvPr/>
        </p:nvSpPr>
        <p:spPr>
          <a:xfrm>
            <a:off x="5236369" y="3534462"/>
            <a:ext cx="1257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：確認沒有非預期的空值</a:t>
            </a:r>
            <a:endParaRPr lang="en-US" sz="837" dirty="0"/>
          </a:p>
        </p:txBody>
      </p:sp>
      <p:sp>
        <p:nvSpPr>
          <p:cNvPr id="43" name="Text 36"/>
          <p:cNvSpPr/>
          <p:nvPr/>
        </p:nvSpPr>
        <p:spPr>
          <a:xfrm>
            <a:off x="4893469" y="3705912"/>
            <a:ext cx="342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一致性</a:t>
            </a:r>
            <a:endParaRPr lang="en-US" sz="837" dirty="0"/>
          </a:p>
        </p:txBody>
      </p:sp>
      <p:sp>
        <p:nvSpPr>
          <p:cNvPr id="44" name="Text 37"/>
          <p:cNvSpPr/>
          <p:nvPr/>
        </p:nvSpPr>
        <p:spPr>
          <a:xfrm>
            <a:off x="5236369" y="3705912"/>
            <a:ext cx="1028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：確認欄位格式統一</a:t>
            </a:r>
            <a:endParaRPr lang="en-US" sz="837" dirty="0"/>
          </a:p>
        </p:txBody>
      </p:sp>
      <p:sp>
        <p:nvSpPr>
          <p:cNvPr id="45" name="Text 38"/>
          <p:cNvSpPr/>
          <p:nvPr/>
        </p:nvSpPr>
        <p:spPr>
          <a:xfrm>
            <a:off x="6950869" y="3534462"/>
            <a:ext cx="342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準確性</a:t>
            </a:r>
            <a:endParaRPr lang="en-US" sz="837" dirty="0"/>
          </a:p>
        </p:txBody>
      </p:sp>
      <p:sp>
        <p:nvSpPr>
          <p:cNvPr id="46" name="Text 39"/>
          <p:cNvSpPr/>
          <p:nvPr/>
        </p:nvSpPr>
        <p:spPr>
          <a:xfrm>
            <a:off x="7293769" y="3534462"/>
            <a:ext cx="1028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：確認沒有測試資料</a:t>
            </a:r>
            <a:endParaRPr lang="en-US" sz="837" dirty="0"/>
          </a:p>
        </p:txBody>
      </p:sp>
      <p:sp>
        <p:nvSpPr>
          <p:cNvPr id="47" name="Text 40"/>
          <p:cNvSpPr/>
          <p:nvPr/>
        </p:nvSpPr>
        <p:spPr>
          <a:xfrm>
            <a:off x="6950869" y="3705912"/>
            <a:ext cx="342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有效性</a:t>
            </a:r>
            <a:endParaRPr lang="en-US" sz="837" dirty="0"/>
          </a:p>
        </p:txBody>
      </p:sp>
      <p:sp>
        <p:nvSpPr>
          <p:cNvPr id="48" name="Text 41"/>
          <p:cNvSpPr/>
          <p:nvPr/>
        </p:nvSpPr>
        <p:spPr>
          <a:xfrm>
            <a:off x="7293769" y="3705912"/>
            <a:ext cx="1257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：確認資料符合業務規則</a:t>
            </a:r>
            <a:endParaRPr lang="en-US" sz="837" dirty="0"/>
          </a:p>
        </p:txBody>
      </p:sp>
      <p:sp>
        <p:nvSpPr>
          <p:cNvPr id="49" name="Shape 42"/>
          <p:cNvSpPr/>
          <p:nvPr/>
        </p:nvSpPr>
        <p:spPr>
          <a:xfrm>
            <a:off x="4750594" y="3905937"/>
            <a:ext cx="4000500" cy="75723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0" name="Text 43"/>
          <p:cNvSpPr/>
          <p:nvPr/>
        </p:nvSpPr>
        <p:spPr>
          <a:xfrm>
            <a:off x="4807744" y="3968445"/>
            <a:ext cx="592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驗證清理結果</a:t>
            </a:r>
            <a:endParaRPr lang="en-US" sz="628" dirty="0"/>
          </a:p>
        </p:txBody>
      </p:sp>
      <p:sp>
        <p:nvSpPr>
          <p:cNvPr id="51" name="Text 44"/>
          <p:cNvSpPr/>
          <p:nvPr/>
        </p:nvSpPr>
        <p:spPr>
          <a:xfrm>
            <a:off x="4807744" y="4097032"/>
            <a:ext cx="167878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print("空值數量：", ads_df.isnull().sum())</a:t>
            </a:r>
            <a:endParaRPr lang="en-US" sz="628" dirty="0"/>
          </a:p>
        </p:txBody>
      </p:sp>
      <p:sp>
        <p:nvSpPr>
          <p:cNvPr id="52" name="Text 45"/>
          <p:cNvSpPr/>
          <p:nvPr/>
        </p:nvSpPr>
        <p:spPr>
          <a:xfrm>
            <a:off x="4807744" y="4225620"/>
            <a:ext cx="217675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print("ad_type 唯一值：", ads_df['ad_type'].unique())</a:t>
            </a:r>
            <a:endParaRPr lang="en-US" sz="628" dirty="0"/>
          </a:p>
        </p:txBody>
      </p:sp>
      <p:sp>
        <p:nvSpPr>
          <p:cNvPr id="53" name="Text 46"/>
          <p:cNvSpPr/>
          <p:nvPr/>
        </p:nvSpPr>
        <p:spPr>
          <a:xfrm>
            <a:off x="4807744" y="4354207"/>
            <a:ext cx="373805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print("剩餘測試資料數量：", ads_df[ads_df['ad_name'].str.contains('TEST|測試', case=False, </a:t>
            </a:r>
            <a:endParaRPr lang="en-US" sz="628" dirty="0"/>
          </a:p>
        </p:txBody>
      </p:sp>
      <p:sp>
        <p:nvSpPr>
          <p:cNvPr id="54" name="Text 47"/>
          <p:cNvSpPr/>
          <p:nvPr/>
        </p:nvSpPr>
        <p:spPr>
          <a:xfrm>
            <a:off x="4807744" y="4482795"/>
            <a:ext cx="8477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na=False)].shape[0])</a:t>
            </a:r>
            <a:endParaRPr lang="en-US" sz="628" dirty="0"/>
          </a:p>
        </p:txBody>
      </p:sp>
      <p:sp>
        <p:nvSpPr>
          <p:cNvPr id="55" name="Text 48"/>
          <p:cNvSpPr/>
          <p:nvPr/>
        </p:nvSpPr>
        <p:spPr>
          <a:xfrm>
            <a:off x="7300913" y="5241846"/>
            <a:ext cx="170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第二堂課：資料操作、資料清理與整併</a:t>
            </a:r>
            <a:endParaRPr lang="en-US" sz="732" dirty="0"/>
          </a:p>
        </p:txBody>
      </p:sp>
      <p:sp>
        <p:nvSpPr>
          <p:cNvPr id="56" name="Text 14"/>
          <p:cNvSpPr/>
          <p:nvPr/>
        </p:nvSpPr>
        <p:spPr>
          <a:xfrm>
            <a:off x="669785" y="1502986"/>
            <a:ext cx="1003480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zh-TW" altLang="en-US" sz="837" dirty="0" smtClean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處理會員 </a:t>
            </a:r>
            <a:r>
              <a:rPr lang="en-US" altLang="zh-TW" sz="837" dirty="0" smtClean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Region</a:t>
            </a:r>
            <a:r>
              <a:rPr lang="zh-TW" altLang="en-US" sz="837" dirty="0" smtClean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空值</a:t>
            </a:r>
            <a:endParaRPr lang="en-US" sz="837" dirty="0"/>
          </a:p>
        </p:txBody>
      </p:sp>
    </p:spTree>
    <p:extLst>
      <p:ext uri="{BB962C8B-B14F-4D97-AF65-F5344CB8AC3E}">
        <p14:creationId xmlns:p14="http://schemas.microsoft.com/office/powerpoint/2010/main" val="54279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8008"/>
            <a:ext cx="9144000" cy="55363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19925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為什麼要整併資料？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90692" y="648834"/>
            <a:ext cx="4179094" cy="151296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Shape 2"/>
          <p:cNvSpPr/>
          <p:nvPr/>
        </p:nvSpPr>
        <p:spPr>
          <a:xfrm>
            <a:off x="90692" y="648834"/>
            <a:ext cx="28575" cy="1512968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48" y="795280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6448" y="755990"/>
            <a:ext cx="18859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商業問題往往需要跨表資訊 </a:t>
            </a:r>
            <a:endParaRPr lang="en-US" sz="1238" dirty="0"/>
          </a:p>
        </p:txBody>
      </p:sp>
      <p:sp>
        <p:nvSpPr>
          <p:cNvPr id="8" name="Text 4"/>
          <p:cNvSpPr/>
          <p:nvPr/>
        </p:nvSpPr>
        <p:spPr>
          <a:xfrm>
            <a:off x="197848" y="1077459"/>
            <a:ext cx="38576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單一資料表通常只包含部分資訊，無法回答完整的商業問題。透過整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197848" y="1283176"/>
            <a:ext cx="23146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併多個資料表，可以獲得更全面的洞見。 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197848" y="1546044"/>
            <a:ext cx="3964781" cy="5086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7"/>
          <p:cNvSpPr/>
          <p:nvPr/>
        </p:nvSpPr>
        <p:spPr>
          <a:xfrm>
            <a:off x="197848" y="1546044"/>
            <a:ext cx="3964781" cy="508602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例如：要知道某會員的購買金額與年齡，需要整併 customers + transactions 表 </a:t>
            </a:r>
            <a:endParaRPr lang="en-US" sz="837" dirty="0"/>
          </a:p>
        </p:txBody>
      </p:sp>
      <p:sp>
        <p:nvSpPr>
          <p:cNvPr id="12" name="Shape 8"/>
          <p:cNvSpPr/>
          <p:nvPr/>
        </p:nvSpPr>
        <p:spPr>
          <a:xfrm>
            <a:off x="90692" y="2304677"/>
            <a:ext cx="4179094" cy="1330105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3" name="Shape 9"/>
          <p:cNvSpPr/>
          <p:nvPr/>
        </p:nvSpPr>
        <p:spPr>
          <a:xfrm>
            <a:off x="90692" y="2304677"/>
            <a:ext cx="28575" cy="1330105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848" y="2451123"/>
            <a:ext cx="137517" cy="1571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6803" y="2411833"/>
            <a:ext cx="212484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資料分表管理 → 分析時需整合 </a:t>
            </a:r>
            <a:endParaRPr lang="en-US" sz="1238" dirty="0"/>
          </a:p>
        </p:txBody>
      </p:sp>
      <p:sp>
        <p:nvSpPr>
          <p:cNvPr id="16" name="Text 11"/>
          <p:cNvSpPr/>
          <p:nvPr/>
        </p:nvSpPr>
        <p:spPr>
          <a:xfrm>
            <a:off x="197848" y="2733302"/>
            <a:ext cx="38576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為了系統效能和資料管理，資料通常被分散儲存在不同的表格中。分</a:t>
            </a:r>
            <a:endParaRPr lang="en-US" sz="942" dirty="0"/>
          </a:p>
        </p:txBody>
      </p:sp>
      <p:sp>
        <p:nvSpPr>
          <p:cNvPr id="17" name="Text 12"/>
          <p:cNvSpPr/>
          <p:nvPr/>
        </p:nvSpPr>
        <p:spPr>
          <a:xfrm>
            <a:off x="197848" y="2939019"/>
            <a:ext cx="21860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析時需要將這些分散的資料重新組合。 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197848" y="3201887"/>
            <a:ext cx="3964781" cy="3257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4"/>
          <p:cNvSpPr/>
          <p:nvPr/>
        </p:nvSpPr>
        <p:spPr>
          <a:xfrm>
            <a:off x="197848" y="3201887"/>
            <a:ext cx="3964781" cy="3257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例如：商品資訊、庫存資訊、銷售資訊分別存在不同表格 </a:t>
            </a:r>
            <a:endParaRPr lang="en-US" sz="837" dirty="0"/>
          </a:p>
        </p:txBody>
      </p:sp>
      <p:sp>
        <p:nvSpPr>
          <p:cNvPr id="20" name="Shape 15"/>
          <p:cNvSpPr/>
          <p:nvPr/>
        </p:nvSpPr>
        <p:spPr>
          <a:xfrm>
            <a:off x="90692" y="3777656"/>
            <a:ext cx="4179094" cy="1330105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1" name="Shape 16"/>
          <p:cNvSpPr/>
          <p:nvPr/>
        </p:nvSpPr>
        <p:spPr>
          <a:xfrm>
            <a:off x="90692" y="3777656"/>
            <a:ext cx="28575" cy="1330105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848" y="3924103"/>
            <a:ext cx="157163" cy="15716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26448" y="3884813"/>
            <a:ext cx="141449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提升分析深度與廣度 </a:t>
            </a:r>
            <a:endParaRPr lang="en-US" sz="1238" dirty="0"/>
          </a:p>
        </p:txBody>
      </p:sp>
      <p:sp>
        <p:nvSpPr>
          <p:cNvPr id="24" name="Text 18"/>
          <p:cNvSpPr/>
          <p:nvPr/>
        </p:nvSpPr>
        <p:spPr>
          <a:xfrm>
            <a:off x="197848" y="4206281"/>
            <a:ext cx="38576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整併資料可以建立更複雜的分析模型，發現單一資料表無法呈現的關</a:t>
            </a:r>
            <a:endParaRPr lang="en-US" sz="942" dirty="0"/>
          </a:p>
        </p:txBody>
      </p:sp>
      <p:sp>
        <p:nvSpPr>
          <p:cNvPr id="25" name="Text 19"/>
          <p:cNvSpPr/>
          <p:nvPr/>
        </p:nvSpPr>
        <p:spPr>
          <a:xfrm>
            <a:off x="197848" y="4411999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聯和模式。 </a:t>
            </a:r>
            <a:endParaRPr lang="en-US" sz="942" dirty="0"/>
          </a:p>
        </p:txBody>
      </p:sp>
      <p:sp>
        <p:nvSpPr>
          <p:cNvPr id="26" name="Shape 20"/>
          <p:cNvSpPr/>
          <p:nvPr/>
        </p:nvSpPr>
        <p:spPr>
          <a:xfrm>
            <a:off x="197848" y="4674867"/>
            <a:ext cx="3964781" cy="3257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Text 21"/>
          <p:cNvSpPr/>
          <p:nvPr/>
        </p:nvSpPr>
        <p:spPr>
          <a:xfrm>
            <a:off x="197848" y="4674867"/>
            <a:ext cx="3964781" cy="3257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例如：分析不同地區、不同年齡層客戶對各類商品的偏好 </a:t>
            </a:r>
            <a:endParaRPr lang="en-US" sz="837" dirty="0"/>
          </a:p>
        </p:txBody>
      </p:sp>
      <p:sp>
        <p:nvSpPr>
          <p:cNvPr id="34" name="Shape 29"/>
          <p:cNvSpPr/>
          <p:nvPr/>
        </p:nvSpPr>
        <p:spPr>
          <a:xfrm>
            <a:off x="4292194" y="644347"/>
            <a:ext cx="4634340" cy="2753916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9350" y="794366"/>
            <a:ext cx="171450" cy="17145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642237" y="751504"/>
            <a:ext cx="1543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整併前後的資料對比 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4399350" y="1080116"/>
            <a:ext cx="21528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整併前：分散的資料</a:t>
            </a:r>
            <a:endParaRPr lang="en-US" sz="837" dirty="0"/>
          </a:p>
        </p:txBody>
      </p:sp>
      <p:sp>
        <p:nvSpPr>
          <p:cNvPr id="38" name="Text 32"/>
          <p:cNvSpPr/>
          <p:nvPr/>
        </p:nvSpPr>
        <p:spPr>
          <a:xfrm>
            <a:off x="4399350" y="1280141"/>
            <a:ext cx="215286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Customers 表</a:t>
            </a:r>
            <a:endParaRPr lang="en-US" sz="732" dirty="0"/>
          </a:p>
        </p:txBody>
      </p:sp>
      <p:sp>
        <p:nvSpPr>
          <p:cNvPr id="39" name="Shape 33"/>
          <p:cNvSpPr/>
          <p:nvPr/>
        </p:nvSpPr>
        <p:spPr>
          <a:xfrm>
            <a:off x="4399350" y="1494454"/>
            <a:ext cx="1103570" cy="2250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0" name="Text 34"/>
          <p:cNvSpPr/>
          <p:nvPr/>
        </p:nvSpPr>
        <p:spPr>
          <a:xfrm>
            <a:off x="4399350" y="1494454"/>
            <a:ext cx="1103570" cy="2250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customer_id</a:t>
            </a:r>
            <a:endParaRPr lang="en-US" sz="680" dirty="0"/>
          </a:p>
        </p:txBody>
      </p:sp>
      <p:sp>
        <p:nvSpPr>
          <p:cNvPr id="41" name="Shape 35"/>
          <p:cNvSpPr/>
          <p:nvPr/>
        </p:nvSpPr>
        <p:spPr>
          <a:xfrm>
            <a:off x="5502920" y="1494454"/>
            <a:ext cx="616762" cy="2250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2" name="Text 36"/>
          <p:cNvSpPr/>
          <p:nvPr/>
        </p:nvSpPr>
        <p:spPr>
          <a:xfrm>
            <a:off x="5502920" y="1494454"/>
            <a:ext cx="616762" cy="2250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</a:t>
            </a:r>
            <a:endParaRPr lang="en-US" sz="680" dirty="0"/>
          </a:p>
        </p:txBody>
      </p:sp>
      <p:sp>
        <p:nvSpPr>
          <p:cNvPr id="43" name="Shape 37"/>
          <p:cNvSpPr/>
          <p:nvPr/>
        </p:nvSpPr>
        <p:spPr>
          <a:xfrm>
            <a:off x="6119682" y="1494454"/>
            <a:ext cx="432532" cy="2250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4" name="Text 38"/>
          <p:cNvSpPr/>
          <p:nvPr/>
        </p:nvSpPr>
        <p:spPr>
          <a:xfrm>
            <a:off x="6119682" y="1494454"/>
            <a:ext cx="432532" cy="2250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</a:t>
            </a:r>
            <a:endParaRPr lang="en-US" sz="680" dirty="0"/>
          </a:p>
        </p:txBody>
      </p:sp>
      <p:sp>
        <p:nvSpPr>
          <p:cNvPr id="45" name="Text 39"/>
          <p:cNvSpPr/>
          <p:nvPr/>
        </p:nvSpPr>
        <p:spPr>
          <a:xfrm>
            <a:off x="4399350" y="1719482"/>
            <a:ext cx="1103570" cy="200025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C001</a:t>
            </a:r>
            <a:endParaRPr lang="en-US" sz="680" dirty="0"/>
          </a:p>
        </p:txBody>
      </p:sp>
      <p:sp>
        <p:nvSpPr>
          <p:cNvPr id="46" name="Text 40"/>
          <p:cNvSpPr/>
          <p:nvPr/>
        </p:nvSpPr>
        <p:spPr>
          <a:xfrm>
            <a:off x="5502920" y="1719482"/>
            <a:ext cx="616762" cy="200025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王小明</a:t>
            </a:r>
            <a:endParaRPr lang="en-US" sz="680" dirty="0"/>
          </a:p>
        </p:txBody>
      </p:sp>
      <p:sp>
        <p:nvSpPr>
          <p:cNvPr id="47" name="Text 41"/>
          <p:cNvSpPr/>
          <p:nvPr/>
        </p:nvSpPr>
        <p:spPr>
          <a:xfrm>
            <a:off x="6119682" y="1719482"/>
            <a:ext cx="432532" cy="200025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</a:t>
            </a:r>
            <a:endParaRPr lang="en-US" sz="680" dirty="0"/>
          </a:p>
        </p:txBody>
      </p:sp>
      <p:sp>
        <p:nvSpPr>
          <p:cNvPr id="48" name="Shape 42"/>
          <p:cNvSpPr/>
          <p:nvPr/>
        </p:nvSpPr>
        <p:spPr>
          <a:xfrm>
            <a:off x="4399350" y="1919507"/>
            <a:ext cx="2152864" cy="203597"/>
          </a:xfrm>
          <a:prstGeom prst="rect">
            <a:avLst/>
          </a:prstGeom>
          <a:solidFill>
            <a:srgbClr val="ECF0F1">
              <a:alpha val="50000"/>
            </a:srgbClr>
          </a:solidFill>
          <a:ln/>
        </p:spPr>
      </p:sp>
      <p:sp>
        <p:nvSpPr>
          <p:cNvPr id="49" name="Text 43"/>
          <p:cNvSpPr/>
          <p:nvPr/>
        </p:nvSpPr>
        <p:spPr>
          <a:xfrm>
            <a:off x="4399350" y="1919507"/>
            <a:ext cx="1103570" cy="20359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C002</a:t>
            </a:r>
            <a:endParaRPr lang="en-US" sz="680" dirty="0"/>
          </a:p>
        </p:txBody>
      </p:sp>
      <p:sp>
        <p:nvSpPr>
          <p:cNvPr id="50" name="Text 44"/>
          <p:cNvSpPr/>
          <p:nvPr/>
        </p:nvSpPr>
        <p:spPr>
          <a:xfrm>
            <a:off x="5502920" y="1919507"/>
            <a:ext cx="616762" cy="20359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李小華</a:t>
            </a:r>
            <a:endParaRPr lang="en-US" sz="680" dirty="0"/>
          </a:p>
        </p:txBody>
      </p:sp>
      <p:sp>
        <p:nvSpPr>
          <p:cNvPr id="51" name="Text 45"/>
          <p:cNvSpPr/>
          <p:nvPr/>
        </p:nvSpPr>
        <p:spPr>
          <a:xfrm>
            <a:off x="6119682" y="1919507"/>
            <a:ext cx="432532" cy="20359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32</a:t>
            </a:r>
            <a:endParaRPr lang="en-US" sz="680" dirty="0"/>
          </a:p>
        </p:txBody>
      </p:sp>
      <p:sp>
        <p:nvSpPr>
          <p:cNvPr id="52" name="Text 46"/>
          <p:cNvSpPr/>
          <p:nvPr/>
        </p:nvSpPr>
        <p:spPr>
          <a:xfrm>
            <a:off x="4399350" y="2183825"/>
            <a:ext cx="215286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Transactions 表</a:t>
            </a:r>
            <a:endParaRPr lang="en-US" sz="732" dirty="0"/>
          </a:p>
        </p:txBody>
      </p:sp>
      <p:sp>
        <p:nvSpPr>
          <p:cNvPr id="53" name="Shape 47"/>
          <p:cNvSpPr/>
          <p:nvPr/>
        </p:nvSpPr>
        <p:spPr>
          <a:xfrm>
            <a:off x="4399350" y="2398138"/>
            <a:ext cx="867631" cy="2250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4" name="Text 48"/>
          <p:cNvSpPr/>
          <p:nvPr/>
        </p:nvSpPr>
        <p:spPr>
          <a:xfrm>
            <a:off x="4399350" y="2398138"/>
            <a:ext cx="867631" cy="2250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transaction_id</a:t>
            </a:r>
            <a:endParaRPr lang="en-US" sz="680" dirty="0"/>
          </a:p>
        </p:txBody>
      </p:sp>
      <p:sp>
        <p:nvSpPr>
          <p:cNvPr id="55" name="Shape 49"/>
          <p:cNvSpPr/>
          <p:nvPr/>
        </p:nvSpPr>
        <p:spPr>
          <a:xfrm>
            <a:off x="5266981" y="2398138"/>
            <a:ext cx="758410" cy="2250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6" name="Text 50"/>
          <p:cNvSpPr/>
          <p:nvPr/>
        </p:nvSpPr>
        <p:spPr>
          <a:xfrm>
            <a:off x="5266981" y="2398138"/>
            <a:ext cx="758410" cy="2250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customer_id</a:t>
            </a:r>
            <a:endParaRPr lang="en-US" sz="680" dirty="0"/>
          </a:p>
        </p:txBody>
      </p:sp>
      <p:sp>
        <p:nvSpPr>
          <p:cNvPr id="57" name="Shape 51"/>
          <p:cNvSpPr/>
          <p:nvPr/>
        </p:nvSpPr>
        <p:spPr>
          <a:xfrm>
            <a:off x="6025390" y="2398138"/>
            <a:ext cx="526824" cy="2250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8" name="Text 52"/>
          <p:cNvSpPr/>
          <p:nvPr/>
        </p:nvSpPr>
        <p:spPr>
          <a:xfrm>
            <a:off x="6025390" y="2398138"/>
            <a:ext cx="526824" cy="2250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amount</a:t>
            </a:r>
            <a:endParaRPr lang="en-US" sz="680" dirty="0"/>
          </a:p>
        </p:txBody>
      </p:sp>
      <p:sp>
        <p:nvSpPr>
          <p:cNvPr id="59" name="Text 53"/>
          <p:cNvSpPr/>
          <p:nvPr/>
        </p:nvSpPr>
        <p:spPr>
          <a:xfrm>
            <a:off x="4399350" y="2623166"/>
            <a:ext cx="867631" cy="200025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T001</a:t>
            </a:r>
            <a:endParaRPr lang="en-US" sz="680" dirty="0"/>
          </a:p>
        </p:txBody>
      </p:sp>
      <p:sp>
        <p:nvSpPr>
          <p:cNvPr id="60" name="Text 54"/>
          <p:cNvSpPr/>
          <p:nvPr/>
        </p:nvSpPr>
        <p:spPr>
          <a:xfrm>
            <a:off x="5266981" y="2623166"/>
            <a:ext cx="758410" cy="200025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C001</a:t>
            </a:r>
            <a:endParaRPr lang="en-US" sz="680" dirty="0"/>
          </a:p>
        </p:txBody>
      </p:sp>
      <p:sp>
        <p:nvSpPr>
          <p:cNvPr id="61" name="Text 55"/>
          <p:cNvSpPr/>
          <p:nvPr/>
        </p:nvSpPr>
        <p:spPr>
          <a:xfrm>
            <a:off x="6025390" y="2623166"/>
            <a:ext cx="526824" cy="200025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1200</a:t>
            </a:r>
            <a:endParaRPr lang="en-US" sz="680" dirty="0"/>
          </a:p>
        </p:txBody>
      </p:sp>
      <p:sp>
        <p:nvSpPr>
          <p:cNvPr id="62" name="Shape 56"/>
          <p:cNvSpPr/>
          <p:nvPr/>
        </p:nvSpPr>
        <p:spPr>
          <a:xfrm>
            <a:off x="4399350" y="2823191"/>
            <a:ext cx="2152864" cy="203597"/>
          </a:xfrm>
          <a:prstGeom prst="rect">
            <a:avLst/>
          </a:prstGeom>
          <a:solidFill>
            <a:srgbClr val="ECF0F1">
              <a:alpha val="50000"/>
            </a:srgbClr>
          </a:solidFill>
          <a:ln/>
        </p:spPr>
      </p:sp>
      <p:sp>
        <p:nvSpPr>
          <p:cNvPr id="63" name="Text 57"/>
          <p:cNvSpPr/>
          <p:nvPr/>
        </p:nvSpPr>
        <p:spPr>
          <a:xfrm>
            <a:off x="4399350" y="2823191"/>
            <a:ext cx="867631" cy="20359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T002</a:t>
            </a:r>
            <a:endParaRPr lang="en-US" sz="680" dirty="0"/>
          </a:p>
        </p:txBody>
      </p:sp>
      <p:sp>
        <p:nvSpPr>
          <p:cNvPr id="64" name="Text 58"/>
          <p:cNvSpPr/>
          <p:nvPr/>
        </p:nvSpPr>
        <p:spPr>
          <a:xfrm>
            <a:off x="5266981" y="2823191"/>
            <a:ext cx="758410" cy="20359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C001</a:t>
            </a:r>
            <a:endParaRPr lang="en-US" sz="680" dirty="0"/>
          </a:p>
        </p:txBody>
      </p:sp>
      <p:sp>
        <p:nvSpPr>
          <p:cNvPr id="65" name="Text 59"/>
          <p:cNvSpPr/>
          <p:nvPr/>
        </p:nvSpPr>
        <p:spPr>
          <a:xfrm>
            <a:off x="6025390" y="2823191"/>
            <a:ext cx="526824" cy="20359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800</a:t>
            </a:r>
            <a:endParaRPr lang="en-US" sz="680" dirty="0"/>
          </a:p>
        </p:txBody>
      </p:sp>
      <p:sp>
        <p:nvSpPr>
          <p:cNvPr id="66" name="Text 60"/>
          <p:cNvSpPr/>
          <p:nvPr/>
        </p:nvSpPr>
        <p:spPr>
          <a:xfrm>
            <a:off x="4399350" y="3026788"/>
            <a:ext cx="867631" cy="20359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T003</a:t>
            </a:r>
            <a:endParaRPr lang="en-US" sz="680" dirty="0"/>
          </a:p>
        </p:txBody>
      </p:sp>
      <p:sp>
        <p:nvSpPr>
          <p:cNvPr id="67" name="Text 61"/>
          <p:cNvSpPr/>
          <p:nvPr/>
        </p:nvSpPr>
        <p:spPr>
          <a:xfrm>
            <a:off x="5266981" y="3026788"/>
            <a:ext cx="758410" cy="20359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C002</a:t>
            </a:r>
            <a:endParaRPr lang="en-US" sz="680" dirty="0"/>
          </a:p>
        </p:txBody>
      </p:sp>
      <p:sp>
        <p:nvSpPr>
          <p:cNvPr id="68" name="Text 62"/>
          <p:cNvSpPr/>
          <p:nvPr/>
        </p:nvSpPr>
        <p:spPr>
          <a:xfrm>
            <a:off x="6025390" y="3026788"/>
            <a:ext cx="526824" cy="20359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1500</a:t>
            </a:r>
            <a:endParaRPr lang="en-US" sz="680" dirty="0"/>
          </a:p>
        </p:txBody>
      </p:sp>
      <p:sp>
        <p:nvSpPr>
          <p:cNvPr id="69" name="Text 63"/>
          <p:cNvSpPr/>
          <p:nvPr/>
        </p:nvSpPr>
        <p:spPr>
          <a:xfrm>
            <a:off x="6666514" y="1080116"/>
            <a:ext cx="21528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整併後：完整的資訊</a:t>
            </a:r>
            <a:endParaRPr lang="en-US" sz="837" dirty="0"/>
          </a:p>
        </p:txBody>
      </p:sp>
      <p:sp>
        <p:nvSpPr>
          <p:cNvPr id="70" name="Text 64"/>
          <p:cNvSpPr/>
          <p:nvPr/>
        </p:nvSpPr>
        <p:spPr>
          <a:xfrm>
            <a:off x="6666514" y="1280141"/>
            <a:ext cx="215286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整併結果</a:t>
            </a:r>
            <a:endParaRPr lang="en-US" sz="732" dirty="0"/>
          </a:p>
        </p:txBody>
      </p:sp>
      <p:sp>
        <p:nvSpPr>
          <p:cNvPr id="71" name="Shape 65"/>
          <p:cNvSpPr/>
          <p:nvPr/>
        </p:nvSpPr>
        <p:spPr>
          <a:xfrm>
            <a:off x="6666514" y="1494454"/>
            <a:ext cx="651951" cy="2250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2" name="Text 66"/>
          <p:cNvSpPr/>
          <p:nvPr/>
        </p:nvSpPr>
        <p:spPr>
          <a:xfrm>
            <a:off x="6666514" y="1494454"/>
            <a:ext cx="651951" cy="2250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customer_id</a:t>
            </a:r>
            <a:endParaRPr lang="en-US" sz="680" dirty="0"/>
          </a:p>
        </p:txBody>
      </p:sp>
      <p:sp>
        <p:nvSpPr>
          <p:cNvPr id="73" name="Shape 67"/>
          <p:cNvSpPr/>
          <p:nvPr/>
        </p:nvSpPr>
        <p:spPr>
          <a:xfrm>
            <a:off x="7318465" y="1494454"/>
            <a:ext cx="348928" cy="2250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4" name="Text 68"/>
          <p:cNvSpPr/>
          <p:nvPr/>
        </p:nvSpPr>
        <p:spPr>
          <a:xfrm>
            <a:off x="7318465" y="1494454"/>
            <a:ext cx="348928" cy="2250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</a:t>
            </a:r>
            <a:endParaRPr lang="en-US" sz="680" dirty="0"/>
          </a:p>
        </p:txBody>
      </p:sp>
      <p:sp>
        <p:nvSpPr>
          <p:cNvPr id="75" name="Shape 69"/>
          <p:cNvSpPr/>
          <p:nvPr/>
        </p:nvSpPr>
        <p:spPr>
          <a:xfrm>
            <a:off x="7667392" y="1494454"/>
            <a:ext cx="255501" cy="2250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6" name="Text 70"/>
          <p:cNvSpPr/>
          <p:nvPr/>
        </p:nvSpPr>
        <p:spPr>
          <a:xfrm>
            <a:off x="7667392" y="1494454"/>
            <a:ext cx="255501" cy="2250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</a:t>
            </a:r>
            <a:endParaRPr lang="en-US" sz="680" dirty="0"/>
          </a:p>
        </p:txBody>
      </p:sp>
      <p:sp>
        <p:nvSpPr>
          <p:cNvPr id="77" name="Shape 71"/>
          <p:cNvSpPr/>
          <p:nvPr/>
        </p:nvSpPr>
        <p:spPr>
          <a:xfrm>
            <a:off x="7922893" y="1494454"/>
            <a:ext cx="745852" cy="2250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8" name="Text 72"/>
          <p:cNvSpPr/>
          <p:nvPr/>
        </p:nvSpPr>
        <p:spPr>
          <a:xfrm>
            <a:off x="7922893" y="1494454"/>
            <a:ext cx="745852" cy="2250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transaction_id</a:t>
            </a:r>
            <a:endParaRPr lang="en-US" sz="680" dirty="0"/>
          </a:p>
        </p:txBody>
      </p:sp>
      <p:sp>
        <p:nvSpPr>
          <p:cNvPr id="79" name="Shape 73"/>
          <p:cNvSpPr/>
          <p:nvPr/>
        </p:nvSpPr>
        <p:spPr>
          <a:xfrm>
            <a:off x="8668745" y="1494454"/>
            <a:ext cx="452847" cy="2250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0" name="Text 74"/>
          <p:cNvSpPr/>
          <p:nvPr/>
        </p:nvSpPr>
        <p:spPr>
          <a:xfrm>
            <a:off x="8668745" y="1494454"/>
            <a:ext cx="452847" cy="22502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amount</a:t>
            </a:r>
            <a:endParaRPr lang="en-US" sz="680" dirty="0"/>
          </a:p>
        </p:txBody>
      </p:sp>
      <p:sp>
        <p:nvSpPr>
          <p:cNvPr id="81" name="Text 75"/>
          <p:cNvSpPr/>
          <p:nvPr/>
        </p:nvSpPr>
        <p:spPr>
          <a:xfrm>
            <a:off x="6666514" y="1719482"/>
            <a:ext cx="651951" cy="33932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C001</a:t>
            </a:r>
            <a:endParaRPr lang="en-US" sz="680" dirty="0"/>
          </a:p>
        </p:txBody>
      </p:sp>
      <p:sp>
        <p:nvSpPr>
          <p:cNvPr id="82" name="Text 76"/>
          <p:cNvSpPr/>
          <p:nvPr/>
        </p:nvSpPr>
        <p:spPr>
          <a:xfrm>
            <a:off x="7318465" y="1719482"/>
            <a:ext cx="348928" cy="33932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王小明</a:t>
            </a:r>
            <a:endParaRPr lang="en-US" sz="680" dirty="0"/>
          </a:p>
        </p:txBody>
      </p:sp>
      <p:sp>
        <p:nvSpPr>
          <p:cNvPr id="83" name="Text 77"/>
          <p:cNvSpPr/>
          <p:nvPr/>
        </p:nvSpPr>
        <p:spPr>
          <a:xfrm>
            <a:off x="7667392" y="1719482"/>
            <a:ext cx="255501" cy="33932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</a:t>
            </a:r>
            <a:endParaRPr lang="en-US" sz="680" dirty="0"/>
          </a:p>
        </p:txBody>
      </p:sp>
      <p:sp>
        <p:nvSpPr>
          <p:cNvPr id="84" name="Text 78"/>
          <p:cNvSpPr/>
          <p:nvPr/>
        </p:nvSpPr>
        <p:spPr>
          <a:xfrm>
            <a:off x="7922893" y="1719482"/>
            <a:ext cx="745852" cy="33932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T001</a:t>
            </a:r>
            <a:endParaRPr lang="en-US" sz="680" dirty="0"/>
          </a:p>
        </p:txBody>
      </p:sp>
      <p:sp>
        <p:nvSpPr>
          <p:cNvPr id="85" name="Text 79"/>
          <p:cNvSpPr/>
          <p:nvPr/>
        </p:nvSpPr>
        <p:spPr>
          <a:xfrm>
            <a:off x="8668745" y="1719482"/>
            <a:ext cx="452847" cy="33932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1200</a:t>
            </a:r>
            <a:endParaRPr lang="en-US" sz="680" dirty="0"/>
          </a:p>
        </p:txBody>
      </p:sp>
      <p:sp>
        <p:nvSpPr>
          <p:cNvPr id="86" name="Shape 80"/>
          <p:cNvSpPr/>
          <p:nvPr/>
        </p:nvSpPr>
        <p:spPr>
          <a:xfrm>
            <a:off x="6666514" y="2058810"/>
            <a:ext cx="2455078" cy="342900"/>
          </a:xfrm>
          <a:prstGeom prst="rect">
            <a:avLst/>
          </a:prstGeom>
          <a:solidFill>
            <a:srgbClr val="ECF0F1">
              <a:alpha val="50000"/>
            </a:srgbClr>
          </a:solidFill>
          <a:ln/>
        </p:spPr>
      </p:sp>
      <p:sp>
        <p:nvSpPr>
          <p:cNvPr id="87" name="Text 81"/>
          <p:cNvSpPr/>
          <p:nvPr/>
        </p:nvSpPr>
        <p:spPr>
          <a:xfrm>
            <a:off x="6666514" y="2058810"/>
            <a:ext cx="651951" cy="34290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C001</a:t>
            </a:r>
            <a:endParaRPr lang="en-US" sz="680" dirty="0"/>
          </a:p>
        </p:txBody>
      </p:sp>
      <p:sp>
        <p:nvSpPr>
          <p:cNvPr id="88" name="Text 82"/>
          <p:cNvSpPr/>
          <p:nvPr/>
        </p:nvSpPr>
        <p:spPr>
          <a:xfrm>
            <a:off x="7318465" y="2058810"/>
            <a:ext cx="348928" cy="34290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王小明</a:t>
            </a:r>
            <a:endParaRPr lang="en-US" sz="680" dirty="0"/>
          </a:p>
        </p:txBody>
      </p:sp>
      <p:sp>
        <p:nvSpPr>
          <p:cNvPr id="89" name="Text 83"/>
          <p:cNvSpPr/>
          <p:nvPr/>
        </p:nvSpPr>
        <p:spPr>
          <a:xfrm>
            <a:off x="7667392" y="2058810"/>
            <a:ext cx="255501" cy="34290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</a:t>
            </a:r>
            <a:endParaRPr lang="en-US" sz="680" dirty="0"/>
          </a:p>
        </p:txBody>
      </p:sp>
      <p:sp>
        <p:nvSpPr>
          <p:cNvPr id="90" name="Text 84"/>
          <p:cNvSpPr/>
          <p:nvPr/>
        </p:nvSpPr>
        <p:spPr>
          <a:xfrm>
            <a:off x="7922893" y="2058810"/>
            <a:ext cx="745852" cy="34290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T002</a:t>
            </a:r>
            <a:endParaRPr lang="en-US" sz="680" dirty="0"/>
          </a:p>
        </p:txBody>
      </p:sp>
      <p:sp>
        <p:nvSpPr>
          <p:cNvPr id="91" name="Text 85"/>
          <p:cNvSpPr/>
          <p:nvPr/>
        </p:nvSpPr>
        <p:spPr>
          <a:xfrm>
            <a:off x="8668745" y="2058810"/>
            <a:ext cx="452847" cy="34290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800</a:t>
            </a:r>
            <a:endParaRPr lang="en-US" sz="680" dirty="0"/>
          </a:p>
        </p:txBody>
      </p:sp>
      <p:sp>
        <p:nvSpPr>
          <p:cNvPr id="92" name="Text 86"/>
          <p:cNvSpPr/>
          <p:nvPr/>
        </p:nvSpPr>
        <p:spPr>
          <a:xfrm>
            <a:off x="6666514" y="2401710"/>
            <a:ext cx="651951" cy="34290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C002</a:t>
            </a:r>
            <a:endParaRPr lang="en-US" sz="680" dirty="0"/>
          </a:p>
        </p:txBody>
      </p:sp>
      <p:sp>
        <p:nvSpPr>
          <p:cNvPr id="93" name="Text 87"/>
          <p:cNvSpPr/>
          <p:nvPr/>
        </p:nvSpPr>
        <p:spPr>
          <a:xfrm>
            <a:off x="7318465" y="2401710"/>
            <a:ext cx="348928" cy="34290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李小華</a:t>
            </a:r>
            <a:endParaRPr lang="en-US" sz="680" dirty="0"/>
          </a:p>
        </p:txBody>
      </p:sp>
      <p:sp>
        <p:nvSpPr>
          <p:cNvPr id="94" name="Text 88"/>
          <p:cNvSpPr/>
          <p:nvPr/>
        </p:nvSpPr>
        <p:spPr>
          <a:xfrm>
            <a:off x="7667392" y="2401710"/>
            <a:ext cx="255501" cy="34290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32</a:t>
            </a:r>
            <a:endParaRPr lang="en-US" sz="680" dirty="0"/>
          </a:p>
        </p:txBody>
      </p:sp>
      <p:sp>
        <p:nvSpPr>
          <p:cNvPr id="95" name="Text 89"/>
          <p:cNvSpPr/>
          <p:nvPr/>
        </p:nvSpPr>
        <p:spPr>
          <a:xfrm>
            <a:off x="7922893" y="2401710"/>
            <a:ext cx="745852" cy="34290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T003</a:t>
            </a:r>
            <a:endParaRPr lang="en-US" sz="680" dirty="0"/>
          </a:p>
        </p:txBody>
      </p:sp>
      <p:sp>
        <p:nvSpPr>
          <p:cNvPr id="96" name="Text 90"/>
          <p:cNvSpPr/>
          <p:nvPr/>
        </p:nvSpPr>
        <p:spPr>
          <a:xfrm>
            <a:off x="8668745" y="2401710"/>
            <a:ext cx="452847" cy="34290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1500</a:t>
            </a:r>
            <a:endParaRPr lang="en-US" sz="680" dirty="0"/>
          </a:p>
        </p:txBody>
      </p:sp>
      <p:sp>
        <p:nvSpPr>
          <p:cNvPr id="97" name="Text 91"/>
          <p:cNvSpPr/>
          <p:nvPr/>
        </p:nvSpPr>
        <p:spPr>
          <a:xfrm>
            <a:off x="6666514" y="2833907"/>
            <a:ext cx="215286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整併後，我們可以直接回答：</a:t>
            </a:r>
            <a:endParaRPr lang="en-US" sz="732" dirty="0"/>
          </a:p>
        </p:txBody>
      </p:sp>
      <p:sp>
        <p:nvSpPr>
          <p:cNvPr id="98" name="Text 92"/>
          <p:cNvSpPr/>
          <p:nvPr/>
        </p:nvSpPr>
        <p:spPr>
          <a:xfrm>
            <a:off x="6809389" y="3005357"/>
            <a:ext cx="200998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25歲的王小明總共消費了 2000 元</a:t>
            </a:r>
            <a:endParaRPr lang="en-US" sz="732" dirty="0"/>
          </a:p>
        </p:txBody>
      </p:sp>
      <p:sp>
        <p:nvSpPr>
          <p:cNvPr id="99" name="Text 93"/>
          <p:cNvSpPr/>
          <p:nvPr/>
        </p:nvSpPr>
        <p:spPr>
          <a:xfrm>
            <a:off x="6809389" y="3148232"/>
            <a:ext cx="200998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32歲的李小華總共消費了 1500 元</a:t>
            </a:r>
            <a:endParaRPr lang="en-US" sz="732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8008"/>
            <a:ext cx="9144000" cy="55363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常見整併方式介紹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885825"/>
            <a:ext cx="2046684" cy="1130108"/>
          </a:xfrm>
          <a:prstGeom prst="rect">
            <a:avLst/>
          </a:prstGeom>
          <a:solidFill>
            <a:srgbClr val="ECF0F1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1003697"/>
            <a:ext cx="160734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3647" y="971550"/>
            <a:ext cx="63266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Inner Join </a:t>
            </a:r>
            <a:endParaRPr lang="en-US" sz="942" dirty="0"/>
          </a:p>
        </p:txBody>
      </p:sp>
      <p:sp>
        <p:nvSpPr>
          <p:cNvPr id="7" name="Text 3"/>
          <p:cNvSpPr/>
          <p:nvPr/>
        </p:nvSpPr>
        <p:spPr>
          <a:xfrm>
            <a:off x="371475" y="1223367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只保留兩表中共同存在的資料（交</a:t>
            </a:r>
            <a:endParaRPr lang="en-US" sz="837" dirty="0"/>
          </a:p>
        </p:txBody>
      </p:sp>
      <p:sp>
        <p:nvSpPr>
          <p:cNvPr id="8" name="Text 4"/>
          <p:cNvSpPr/>
          <p:nvPr/>
        </p:nvSpPr>
        <p:spPr>
          <a:xfrm>
            <a:off x="371475" y="1383376"/>
            <a:ext cx="228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集） 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371475" y="1584461"/>
            <a:ext cx="1875234" cy="34574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0" name="Text 6"/>
          <p:cNvSpPr/>
          <p:nvPr/>
        </p:nvSpPr>
        <p:spPr>
          <a:xfrm>
            <a:off x="371475" y="1584461"/>
            <a:ext cx="1875234" cy="345746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SELECT * FROM A INNER JOIN B ON A.key = B.key </a:t>
            </a:r>
            <a:endParaRPr lang="en-US" sz="680" dirty="0"/>
          </a:p>
        </p:txBody>
      </p:sp>
      <p:sp>
        <p:nvSpPr>
          <p:cNvPr id="11" name="Shape 7"/>
          <p:cNvSpPr/>
          <p:nvPr/>
        </p:nvSpPr>
        <p:spPr>
          <a:xfrm>
            <a:off x="2418159" y="885825"/>
            <a:ext cx="2046684" cy="1130108"/>
          </a:xfrm>
          <a:prstGeom prst="rect">
            <a:avLst/>
          </a:prstGeom>
          <a:solidFill>
            <a:srgbClr val="ECF0F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3884" y="1003697"/>
            <a:ext cx="112514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87836" y="971550"/>
            <a:ext cx="53352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Left Join </a:t>
            </a:r>
            <a:endParaRPr lang="en-US" sz="942" dirty="0"/>
          </a:p>
        </p:txBody>
      </p:sp>
      <p:sp>
        <p:nvSpPr>
          <p:cNvPr id="14" name="Text 9"/>
          <p:cNvSpPr/>
          <p:nvPr/>
        </p:nvSpPr>
        <p:spPr>
          <a:xfrm>
            <a:off x="2503884" y="1223367"/>
            <a:ext cx="1828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保留左表所有資料，右表不存在則為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2503884" y="1383376"/>
            <a:ext cx="2902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NULL </a:t>
            </a:r>
            <a:endParaRPr lang="en-US" sz="837" dirty="0"/>
          </a:p>
        </p:txBody>
      </p:sp>
      <p:sp>
        <p:nvSpPr>
          <p:cNvPr id="16" name="Shape 11"/>
          <p:cNvSpPr/>
          <p:nvPr/>
        </p:nvSpPr>
        <p:spPr>
          <a:xfrm>
            <a:off x="2503884" y="1584461"/>
            <a:ext cx="1875234" cy="34574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7" name="Text 12"/>
          <p:cNvSpPr/>
          <p:nvPr/>
        </p:nvSpPr>
        <p:spPr>
          <a:xfrm>
            <a:off x="2503884" y="1584461"/>
            <a:ext cx="1875234" cy="345746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SELECT * FROM A LEFT JOIN B ON A.key = B.key </a:t>
            </a:r>
            <a:endParaRPr lang="en-US" sz="680" dirty="0"/>
          </a:p>
        </p:txBody>
      </p:sp>
      <p:sp>
        <p:nvSpPr>
          <p:cNvPr id="18" name="Shape 13"/>
          <p:cNvSpPr/>
          <p:nvPr/>
        </p:nvSpPr>
        <p:spPr>
          <a:xfrm>
            <a:off x="285750" y="2101658"/>
            <a:ext cx="2046684" cy="1130108"/>
          </a:xfrm>
          <a:prstGeom prst="rect">
            <a:avLst/>
          </a:prstGeom>
          <a:solidFill>
            <a:srgbClr val="ECF0F1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" y="2219530"/>
            <a:ext cx="112514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5427" y="2187383"/>
            <a:ext cx="62507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Right Join </a:t>
            </a:r>
            <a:endParaRPr lang="en-US" sz="942" dirty="0"/>
          </a:p>
        </p:txBody>
      </p:sp>
      <p:sp>
        <p:nvSpPr>
          <p:cNvPr id="21" name="Text 15"/>
          <p:cNvSpPr/>
          <p:nvPr/>
        </p:nvSpPr>
        <p:spPr>
          <a:xfrm>
            <a:off x="371475" y="2439200"/>
            <a:ext cx="1828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保留右表所有資料，左表不存在則為</a:t>
            </a:r>
            <a:endParaRPr lang="en-US" sz="837" dirty="0"/>
          </a:p>
        </p:txBody>
      </p:sp>
      <p:sp>
        <p:nvSpPr>
          <p:cNvPr id="22" name="Text 16"/>
          <p:cNvSpPr/>
          <p:nvPr/>
        </p:nvSpPr>
        <p:spPr>
          <a:xfrm>
            <a:off x="371475" y="2599209"/>
            <a:ext cx="2902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NULL </a:t>
            </a:r>
            <a:endParaRPr lang="en-US" sz="837" dirty="0"/>
          </a:p>
        </p:txBody>
      </p:sp>
      <p:sp>
        <p:nvSpPr>
          <p:cNvPr id="23" name="Shape 17"/>
          <p:cNvSpPr/>
          <p:nvPr/>
        </p:nvSpPr>
        <p:spPr>
          <a:xfrm>
            <a:off x="371475" y="2800294"/>
            <a:ext cx="1875234" cy="34574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4" name="Text 18"/>
          <p:cNvSpPr/>
          <p:nvPr/>
        </p:nvSpPr>
        <p:spPr>
          <a:xfrm>
            <a:off x="371475" y="2800294"/>
            <a:ext cx="1875234" cy="345746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SELECT * FROM A RIGHT JOIN B ON A.key = B.key </a:t>
            </a:r>
            <a:endParaRPr lang="en-US" sz="680" dirty="0"/>
          </a:p>
        </p:txBody>
      </p:sp>
      <p:sp>
        <p:nvSpPr>
          <p:cNvPr id="25" name="Shape 19"/>
          <p:cNvSpPr/>
          <p:nvPr/>
        </p:nvSpPr>
        <p:spPr>
          <a:xfrm>
            <a:off x="2418159" y="2101658"/>
            <a:ext cx="2046684" cy="1130108"/>
          </a:xfrm>
          <a:prstGeom prst="rect">
            <a:avLst/>
          </a:prstGeom>
          <a:solidFill>
            <a:srgbClr val="ECF0F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3884" y="2219530"/>
            <a:ext cx="128588" cy="128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703909" y="2187383"/>
            <a:ext cx="5128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Full Join </a:t>
            </a:r>
            <a:endParaRPr lang="en-US" sz="942" dirty="0"/>
          </a:p>
        </p:txBody>
      </p:sp>
      <p:sp>
        <p:nvSpPr>
          <p:cNvPr id="28" name="Text 21"/>
          <p:cNvSpPr/>
          <p:nvPr/>
        </p:nvSpPr>
        <p:spPr>
          <a:xfrm>
            <a:off x="2503884" y="2439200"/>
            <a:ext cx="1771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保留兩表所有資料（聯集），不存在</a:t>
            </a:r>
            <a:endParaRPr lang="en-US" sz="837" dirty="0"/>
          </a:p>
        </p:txBody>
      </p:sp>
      <p:sp>
        <p:nvSpPr>
          <p:cNvPr id="29" name="Text 22"/>
          <p:cNvSpPr/>
          <p:nvPr/>
        </p:nvSpPr>
        <p:spPr>
          <a:xfrm>
            <a:off x="2503884" y="2599209"/>
            <a:ext cx="5188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則為NULL </a:t>
            </a:r>
            <a:endParaRPr lang="en-US" sz="837" dirty="0"/>
          </a:p>
        </p:txBody>
      </p:sp>
      <p:sp>
        <p:nvSpPr>
          <p:cNvPr id="30" name="Shape 23"/>
          <p:cNvSpPr/>
          <p:nvPr/>
        </p:nvSpPr>
        <p:spPr>
          <a:xfrm>
            <a:off x="2503884" y="2800294"/>
            <a:ext cx="1875234" cy="34574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1" name="Text 24"/>
          <p:cNvSpPr/>
          <p:nvPr/>
        </p:nvSpPr>
        <p:spPr>
          <a:xfrm>
            <a:off x="2503884" y="2800294"/>
            <a:ext cx="1875234" cy="345746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SELECT * FROM A FULL JOIN B ON A.key = B.key </a:t>
            </a:r>
            <a:endParaRPr lang="en-US" sz="680" dirty="0"/>
          </a:p>
        </p:txBody>
      </p:sp>
      <p:sp>
        <p:nvSpPr>
          <p:cNvPr id="32" name="Shape 25"/>
          <p:cNvSpPr/>
          <p:nvPr/>
        </p:nvSpPr>
        <p:spPr>
          <a:xfrm>
            <a:off x="285750" y="3338922"/>
            <a:ext cx="4179094" cy="787208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33" name="Shape 26"/>
          <p:cNvSpPr/>
          <p:nvPr/>
        </p:nvSpPr>
        <p:spPr>
          <a:xfrm>
            <a:off x="285750" y="3338922"/>
            <a:ext cx="28575" cy="787208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5" y="3456794"/>
            <a:ext cx="128588" cy="128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71500" y="3424647"/>
            <a:ext cx="6429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整併注意點 </a:t>
            </a:r>
            <a:endParaRPr lang="en-US" sz="942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75" y="3696109"/>
            <a:ext cx="114300" cy="1143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42925" y="3674678"/>
            <a:ext cx="9001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欄位名稱是否一致？ </a:t>
            </a:r>
            <a:endParaRPr lang="en-US" sz="732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5469" y="3696109"/>
            <a:ext cx="114300" cy="1143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2626919" y="3674678"/>
            <a:ext cx="9001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資料型別是否相同？ </a:t>
            </a:r>
            <a:endParaRPr lang="en-US" sz="732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475" y="3878973"/>
            <a:ext cx="114300" cy="11430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42925" y="3857541"/>
            <a:ext cx="80010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資料是否有重複？ </a:t>
            </a:r>
            <a:endParaRPr lang="en-US" sz="732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55469" y="3878973"/>
            <a:ext cx="114300" cy="11430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2626919" y="3857541"/>
            <a:ext cx="9001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關聯鍵是否有缺值？ </a:t>
            </a:r>
            <a:endParaRPr lang="en-US" sz="732" dirty="0"/>
          </a:p>
        </p:txBody>
      </p:sp>
      <p:sp>
        <p:nvSpPr>
          <p:cNvPr id="46" name="Shape 30"/>
          <p:cNvSpPr/>
          <p:nvPr/>
        </p:nvSpPr>
        <p:spPr>
          <a:xfrm>
            <a:off x="4618434" y="874328"/>
            <a:ext cx="4214813" cy="28003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5590" y="1024347"/>
            <a:ext cx="214313" cy="171450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5011340" y="981484"/>
            <a:ext cx="193104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的 merge() 用法 </a:t>
            </a:r>
            <a:endParaRPr lang="en-US" sz="1350" dirty="0"/>
          </a:p>
        </p:txBody>
      </p:sp>
      <p:sp>
        <p:nvSpPr>
          <p:cNvPr id="49" name="Shape 32"/>
          <p:cNvSpPr/>
          <p:nvPr/>
        </p:nvSpPr>
        <p:spPr>
          <a:xfrm>
            <a:off x="4725590" y="1310097"/>
            <a:ext cx="4000500" cy="150018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0" name="Text 33"/>
          <p:cNvSpPr/>
          <p:nvPr/>
        </p:nvSpPr>
        <p:spPr>
          <a:xfrm>
            <a:off x="4768452" y="1358317"/>
            <a:ext cx="8745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 pandas as pd</a:t>
            </a:r>
            <a:endParaRPr lang="en-US" sz="628" dirty="0"/>
          </a:p>
        </p:txBody>
      </p:sp>
      <p:sp>
        <p:nvSpPr>
          <p:cNvPr id="51" name="Text 34"/>
          <p:cNvSpPr/>
          <p:nvPr/>
        </p:nvSpPr>
        <p:spPr>
          <a:xfrm>
            <a:off x="4768452" y="1615492"/>
            <a:ext cx="4205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讀取資料</a:t>
            </a:r>
            <a:endParaRPr lang="en-US" sz="628" dirty="0"/>
          </a:p>
        </p:txBody>
      </p:sp>
      <p:sp>
        <p:nvSpPr>
          <p:cNvPr id="52" name="Text 35"/>
          <p:cNvSpPr/>
          <p:nvPr/>
        </p:nvSpPr>
        <p:spPr>
          <a:xfrm>
            <a:off x="4768452" y="1744080"/>
            <a:ext cx="16516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customers = pd.read_csv('customers.csv')</a:t>
            </a:r>
            <a:endParaRPr lang="en-US" sz="628" dirty="0"/>
          </a:p>
        </p:txBody>
      </p:sp>
      <p:sp>
        <p:nvSpPr>
          <p:cNvPr id="53" name="Text 36"/>
          <p:cNvSpPr/>
          <p:nvPr/>
        </p:nvSpPr>
        <p:spPr>
          <a:xfrm>
            <a:off x="4768452" y="1872667"/>
            <a:ext cx="18008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transactions = pd.read_csv('transactions.csv')</a:t>
            </a:r>
            <a:endParaRPr lang="en-US" sz="628" dirty="0"/>
          </a:p>
        </p:txBody>
      </p:sp>
      <p:sp>
        <p:nvSpPr>
          <p:cNvPr id="54" name="Text 37"/>
          <p:cNvSpPr/>
          <p:nvPr/>
        </p:nvSpPr>
        <p:spPr>
          <a:xfrm>
            <a:off x="4768452" y="2129842"/>
            <a:ext cx="8243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等同於 INNER JOIN</a:t>
            </a:r>
            <a:endParaRPr lang="en-US" sz="628" dirty="0"/>
          </a:p>
        </p:txBody>
      </p:sp>
      <p:sp>
        <p:nvSpPr>
          <p:cNvPr id="55" name="Text 38"/>
          <p:cNvSpPr/>
          <p:nvPr/>
        </p:nvSpPr>
        <p:spPr>
          <a:xfrm>
            <a:off x="4768452" y="2258430"/>
            <a:ext cx="33429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inner_join = pd.merge(customers, transactions, on='customer_id', how='inner')</a:t>
            </a:r>
            <a:endParaRPr lang="en-US" sz="628" dirty="0"/>
          </a:p>
        </p:txBody>
      </p:sp>
      <p:sp>
        <p:nvSpPr>
          <p:cNvPr id="56" name="Text 39"/>
          <p:cNvSpPr/>
          <p:nvPr/>
        </p:nvSpPr>
        <p:spPr>
          <a:xfrm>
            <a:off x="4768452" y="2515605"/>
            <a:ext cx="7487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等同於 LEFT JOIN</a:t>
            </a:r>
            <a:endParaRPr lang="en-US" sz="628" dirty="0"/>
          </a:p>
        </p:txBody>
      </p:sp>
      <p:sp>
        <p:nvSpPr>
          <p:cNvPr id="57" name="Text 40"/>
          <p:cNvSpPr/>
          <p:nvPr/>
        </p:nvSpPr>
        <p:spPr>
          <a:xfrm>
            <a:off x="4768452" y="2644192"/>
            <a:ext cx="31788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left_join = pd.merge(customers, transactions, on='customer_id', how='left')</a:t>
            </a:r>
            <a:endParaRPr lang="en-US" sz="628" dirty="0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5590" y="2938872"/>
            <a:ext cx="171450" cy="171450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4968477" y="2896009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整併注意事項 </a:t>
            </a:r>
            <a:endParaRPr lang="en-US" sz="1350" dirty="0"/>
          </a:p>
        </p:txBody>
      </p:sp>
      <p:sp>
        <p:nvSpPr>
          <p:cNvPr id="60" name="Text 42"/>
          <p:cNvSpPr/>
          <p:nvPr/>
        </p:nvSpPr>
        <p:spPr>
          <a:xfrm>
            <a:off x="4868465" y="3231766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欄位對不對？</a:t>
            </a:r>
            <a:endParaRPr lang="en-US" sz="837" dirty="0"/>
          </a:p>
        </p:txBody>
      </p:sp>
      <p:sp>
        <p:nvSpPr>
          <p:cNvPr id="61" name="Text 43"/>
          <p:cNvSpPr/>
          <p:nvPr/>
        </p:nvSpPr>
        <p:spPr>
          <a:xfrm>
            <a:off x="4868465" y="3403216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確保關聯欄位名稱和資料類型一致</a:t>
            </a:r>
            <a:endParaRPr lang="en-US" sz="837" dirty="0"/>
          </a:p>
        </p:txBody>
      </p:sp>
      <p:sp>
        <p:nvSpPr>
          <p:cNvPr id="62" name="Text 44"/>
          <p:cNvSpPr/>
          <p:nvPr/>
        </p:nvSpPr>
        <p:spPr>
          <a:xfrm>
            <a:off x="6925865" y="3231766"/>
            <a:ext cx="914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資料有沒有重複？</a:t>
            </a:r>
            <a:endParaRPr lang="en-US" sz="837" dirty="0"/>
          </a:p>
        </p:txBody>
      </p:sp>
      <p:sp>
        <p:nvSpPr>
          <p:cNvPr id="63" name="Text 45"/>
          <p:cNvSpPr/>
          <p:nvPr/>
        </p:nvSpPr>
        <p:spPr>
          <a:xfrm>
            <a:off x="6925865" y="3403216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整併後檢查資料筆數是否符合預期</a:t>
            </a:r>
            <a:endParaRPr lang="en-US" sz="83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4794517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練習4：整併 Customers + Transactions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50119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8638" y="907256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練習步驟 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285750" y="1235869"/>
            <a:ext cx="4214813" cy="34290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392906" y="1343025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8" name="Text 4"/>
          <p:cNvSpPr/>
          <p:nvPr/>
        </p:nvSpPr>
        <p:spPr>
          <a:xfrm>
            <a:off x="392906" y="134302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664369" y="1343025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開啟資料檔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664369" y="1543050"/>
            <a:ext cx="17114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 Excel 或 Google Colab 開啟 </a:t>
            </a:r>
            <a:endParaRPr lang="en-US" sz="837" dirty="0"/>
          </a:p>
        </p:txBody>
      </p:sp>
      <p:sp>
        <p:nvSpPr>
          <p:cNvPr id="11" name="Shape 7"/>
          <p:cNvSpPr/>
          <p:nvPr/>
        </p:nvSpPr>
        <p:spPr>
          <a:xfrm>
            <a:off x="2375799" y="1528763"/>
            <a:ext cx="833726" cy="1839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8"/>
          <p:cNvSpPr/>
          <p:nvPr/>
        </p:nvSpPr>
        <p:spPr>
          <a:xfrm>
            <a:off x="2375799" y="1528763"/>
            <a:ext cx="833726" cy="183952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customers.csv</a:t>
            </a:r>
            <a:endParaRPr lang="en-US" sz="837" dirty="0"/>
          </a:p>
        </p:txBody>
      </p:sp>
      <p:sp>
        <p:nvSpPr>
          <p:cNvPr id="13" name="Text 9"/>
          <p:cNvSpPr/>
          <p:nvPr/>
        </p:nvSpPr>
        <p:spPr>
          <a:xfrm>
            <a:off x="3209525" y="1543050"/>
            <a:ext cx="1737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與 </a:t>
            </a:r>
            <a:endParaRPr lang="en-US" sz="837" dirty="0"/>
          </a:p>
        </p:txBody>
      </p:sp>
      <p:sp>
        <p:nvSpPr>
          <p:cNvPr id="14" name="Shape 10"/>
          <p:cNvSpPr/>
          <p:nvPr/>
        </p:nvSpPr>
        <p:spPr>
          <a:xfrm>
            <a:off x="3383263" y="1528763"/>
            <a:ext cx="929720" cy="1839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1"/>
          <p:cNvSpPr/>
          <p:nvPr/>
        </p:nvSpPr>
        <p:spPr>
          <a:xfrm>
            <a:off x="3383263" y="1528763"/>
            <a:ext cx="929720" cy="183952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transactions.csv</a:t>
            </a:r>
            <a:endParaRPr lang="en-US" sz="837" dirty="0"/>
          </a:p>
        </p:txBody>
      </p:sp>
      <p:sp>
        <p:nvSpPr>
          <p:cNvPr id="16" name="Text 12"/>
          <p:cNvSpPr/>
          <p:nvPr/>
        </p:nvSpPr>
        <p:spPr>
          <a:xfrm>
            <a:off x="664369" y="1714500"/>
            <a:ext cx="228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檔案</a:t>
            </a:r>
            <a:endParaRPr lang="en-US" sz="837" dirty="0"/>
          </a:p>
        </p:txBody>
      </p:sp>
      <p:sp>
        <p:nvSpPr>
          <p:cNvPr id="17" name="Shape 13"/>
          <p:cNvSpPr/>
          <p:nvPr/>
        </p:nvSpPr>
        <p:spPr>
          <a:xfrm>
            <a:off x="392906" y="1964531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8" name="Text 14"/>
          <p:cNvSpPr/>
          <p:nvPr/>
        </p:nvSpPr>
        <p:spPr>
          <a:xfrm>
            <a:off x="392906" y="196453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9" name="Text 15"/>
          <p:cNvSpPr/>
          <p:nvPr/>
        </p:nvSpPr>
        <p:spPr>
          <a:xfrm>
            <a:off x="664369" y="1964531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進行 INNER JOIN 整併</a:t>
            </a:r>
            <a:endParaRPr lang="en-US" sz="837" dirty="0"/>
          </a:p>
        </p:txBody>
      </p:sp>
      <p:sp>
        <p:nvSpPr>
          <p:cNvPr id="20" name="Text 16"/>
          <p:cNvSpPr/>
          <p:nvPr/>
        </p:nvSpPr>
        <p:spPr>
          <a:xfrm>
            <a:off x="664369" y="2157413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 customer_id 欄位將兩個表格進行 INNER JOIN 整併</a:t>
            </a:r>
            <a:endParaRPr lang="en-US" sz="837" dirty="0"/>
          </a:p>
        </p:txBody>
      </p:sp>
      <p:sp>
        <p:nvSpPr>
          <p:cNvPr id="21" name="Shape 17"/>
          <p:cNvSpPr/>
          <p:nvPr/>
        </p:nvSpPr>
        <p:spPr>
          <a:xfrm>
            <a:off x="664369" y="2364581"/>
            <a:ext cx="3729038" cy="500063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2" name="Text 18"/>
          <p:cNvSpPr/>
          <p:nvPr/>
        </p:nvSpPr>
        <p:spPr>
          <a:xfrm>
            <a:off x="721519" y="2427089"/>
            <a:ext cx="5557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Python 範例</a:t>
            </a:r>
            <a:endParaRPr lang="en-US" sz="628" dirty="0"/>
          </a:p>
        </p:txBody>
      </p:sp>
      <p:sp>
        <p:nvSpPr>
          <p:cNvPr id="23" name="Text 19"/>
          <p:cNvSpPr/>
          <p:nvPr/>
        </p:nvSpPr>
        <p:spPr>
          <a:xfrm>
            <a:off x="721519" y="2555677"/>
            <a:ext cx="33429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inner_join = pd.merge(customers, transactions, on='customer_id', how='inner')</a:t>
            </a:r>
            <a:endParaRPr lang="en-US" sz="628" dirty="0"/>
          </a:p>
        </p:txBody>
      </p:sp>
      <p:sp>
        <p:nvSpPr>
          <p:cNvPr id="24" name="Text 20"/>
          <p:cNvSpPr/>
          <p:nvPr/>
        </p:nvSpPr>
        <p:spPr>
          <a:xfrm>
            <a:off x="721519" y="2684264"/>
            <a:ext cx="154966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print(f"整併後筆數: {len(inner_join)}")</a:t>
            </a:r>
            <a:endParaRPr lang="en-US" sz="628" dirty="0"/>
          </a:p>
        </p:txBody>
      </p:sp>
      <p:sp>
        <p:nvSpPr>
          <p:cNvPr id="25" name="Shape 21"/>
          <p:cNvSpPr/>
          <p:nvPr/>
        </p:nvSpPr>
        <p:spPr>
          <a:xfrm>
            <a:off x="392906" y="2950369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6" name="Text 22"/>
          <p:cNvSpPr/>
          <p:nvPr/>
        </p:nvSpPr>
        <p:spPr>
          <a:xfrm>
            <a:off x="392906" y="29503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27" name="Text 23"/>
          <p:cNvSpPr/>
          <p:nvPr/>
        </p:nvSpPr>
        <p:spPr>
          <a:xfrm>
            <a:off x="664369" y="2950369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進行 LEFT JOIN 整併</a:t>
            </a:r>
            <a:endParaRPr lang="en-US" sz="837" dirty="0"/>
          </a:p>
        </p:txBody>
      </p:sp>
      <p:sp>
        <p:nvSpPr>
          <p:cNvPr id="28" name="Text 24"/>
          <p:cNvSpPr/>
          <p:nvPr/>
        </p:nvSpPr>
        <p:spPr>
          <a:xfrm>
            <a:off x="664369" y="3143250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 customer_id 欄位將兩個表格進行 LEFT JOIN 整併</a:t>
            </a:r>
            <a:endParaRPr lang="en-US" sz="837" dirty="0"/>
          </a:p>
        </p:txBody>
      </p:sp>
      <p:sp>
        <p:nvSpPr>
          <p:cNvPr id="29" name="Shape 25"/>
          <p:cNvSpPr/>
          <p:nvPr/>
        </p:nvSpPr>
        <p:spPr>
          <a:xfrm>
            <a:off x="664369" y="3350419"/>
            <a:ext cx="3729038" cy="500063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0" name="Text 26"/>
          <p:cNvSpPr/>
          <p:nvPr/>
        </p:nvSpPr>
        <p:spPr>
          <a:xfrm>
            <a:off x="721519" y="3412927"/>
            <a:ext cx="5557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Python 範例</a:t>
            </a:r>
            <a:endParaRPr lang="en-US" sz="628" dirty="0"/>
          </a:p>
        </p:txBody>
      </p:sp>
      <p:sp>
        <p:nvSpPr>
          <p:cNvPr id="31" name="Text 27"/>
          <p:cNvSpPr/>
          <p:nvPr/>
        </p:nvSpPr>
        <p:spPr>
          <a:xfrm>
            <a:off x="721519" y="3541514"/>
            <a:ext cx="31788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left_join = pd.merge(customers, transactions, on='customer_id', how='left')</a:t>
            </a:r>
            <a:endParaRPr lang="en-US" sz="628" dirty="0"/>
          </a:p>
        </p:txBody>
      </p:sp>
      <p:sp>
        <p:nvSpPr>
          <p:cNvPr id="32" name="Text 28"/>
          <p:cNvSpPr/>
          <p:nvPr/>
        </p:nvSpPr>
        <p:spPr>
          <a:xfrm>
            <a:off x="721519" y="3670102"/>
            <a:ext cx="14684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print(f"整併後筆數: {len(left_join)}")</a:t>
            </a:r>
            <a:endParaRPr lang="en-US" sz="628" dirty="0"/>
          </a:p>
        </p:txBody>
      </p:sp>
      <p:sp>
        <p:nvSpPr>
          <p:cNvPr id="33" name="Shape 29"/>
          <p:cNvSpPr/>
          <p:nvPr/>
        </p:nvSpPr>
        <p:spPr>
          <a:xfrm>
            <a:off x="392906" y="3936206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34" name="Text 30"/>
          <p:cNvSpPr/>
          <p:nvPr/>
        </p:nvSpPr>
        <p:spPr>
          <a:xfrm>
            <a:off x="392906" y="393620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35" name="Text 31"/>
          <p:cNvSpPr/>
          <p:nvPr/>
        </p:nvSpPr>
        <p:spPr>
          <a:xfrm>
            <a:off x="664369" y="3936206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觀察整併前後的筆數變化</a:t>
            </a:r>
            <a:endParaRPr lang="en-US" sz="837" dirty="0"/>
          </a:p>
        </p:txBody>
      </p:sp>
      <p:sp>
        <p:nvSpPr>
          <p:cNvPr id="36" name="Text 32"/>
          <p:cNvSpPr/>
          <p:nvPr/>
        </p:nvSpPr>
        <p:spPr>
          <a:xfrm>
            <a:off x="664369" y="4129088"/>
            <a:ext cx="37290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比較原始資料表與整併後的資料筆數，理解 INNER JOIN 與 LEFT JOIN 的差異</a:t>
            </a:r>
            <a:endParaRPr lang="en-US" sz="837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644" y="1300163"/>
            <a:ext cx="914400" cy="17145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4643438" y="1585913"/>
            <a:ext cx="4214813" cy="27717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594" y="1735931"/>
            <a:ext cx="171450" cy="17145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4993481" y="1693069"/>
            <a:ext cx="1371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整併前後筆數比較 </a:t>
            </a:r>
            <a:endParaRPr lang="en-US" sz="135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594" y="2021681"/>
            <a:ext cx="4000500" cy="142875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750594" y="3536156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思考問題：</a:t>
            </a:r>
            <a:endParaRPr lang="en-US" sz="837" dirty="0"/>
          </a:p>
        </p:txBody>
      </p:sp>
      <p:sp>
        <p:nvSpPr>
          <p:cNvPr id="43" name="Text 36"/>
          <p:cNvSpPr/>
          <p:nvPr/>
        </p:nvSpPr>
        <p:spPr>
          <a:xfrm>
            <a:off x="4893469" y="3736181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為什麼 INNER JOIN 後的筆數可能會小於原始表格？</a:t>
            </a:r>
            <a:endParaRPr lang="en-US" sz="837" dirty="0"/>
          </a:p>
        </p:txBody>
      </p:sp>
      <p:sp>
        <p:nvSpPr>
          <p:cNvPr id="44" name="Text 37"/>
          <p:cNvSpPr/>
          <p:nvPr/>
        </p:nvSpPr>
        <p:spPr>
          <a:xfrm>
            <a:off x="4893469" y="3907631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為什麼 LEFT JOIN 後的筆數等於 Customers 表的筆數？</a:t>
            </a:r>
            <a:endParaRPr lang="en-US" sz="837" dirty="0"/>
          </a:p>
        </p:txBody>
      </p:sp>
      <p:sp>
        <p:nvSpPr>
          <p:cNvPr id="45" name="Text 38"/>
          <p:cNvSpPr/>
          <p:nvPr/>
        </p:nvSpPr>
        <p:spPr>
          <a:xfrm>
            <a:off x="4893469" y="4079081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如果有些客戶沒有交易紀錄，在 LEFT JOIN 結果中會如何呈現？</a:t>
            </a:r>
            <a:endParaRPr lang="en-US" sz="837" dirty="0"/>
          </a:p>
        </p:txBody>
      </p:sp>
      <p:sp>
        <p:nvSpPr>
          <p:cNvPr id="46" name="Text 39"/>
          <p:cNvSpPr/>
          <p:nvPr/>
        </p:nvSpPr>
        <p:spPr>
          <a:xfrm>
            <a:off x="7300913" y="4922044"/>
            <a:ext cx="170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第二堂課：資料操作、資料清理與整併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135814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29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5997067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整併三表：Transactions + Customers + Products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50119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907256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整併實作 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285750" y="1235869"/>
            <a:ext cx="4214813" cy="2207419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392906" y="1343025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透過兩次 JOIN 操作，將三個表格整併在一起：</a:t>
            </a:r>
            <a:endParaRPr lang="en-US" sz="837" dirty="0"/>
          </a:p>
        </p:txBody>
      </p:sp>
      <p:sp>
        <p:nvSpPr>
          <p:cNvPr id="8" name="Shape 4"/>
          <p:cNvSpPr/>
          <p:nvPr/>
        </p:nvSpPr>
        <p:spPr>
          <a:xfrm>
            <a:off x="392906" y="1550194"/>
            <a:ext cx="4000500" cy="178593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9" name="Text 5"/>
          <p:cNvSpPr/>
          <p:nvPr/>
        </p:nvSpPr>
        <p:spPr>
          <a:xfrm>
            <a:off x="450056" y="1612702"/>
            <a:ext cx="5557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Python 實作</a:t>
            </a:r>
            <a:endParaRPr lang="en-US" sz="628" dirty="0"/>
          </a:p>
        </p:txBody>
      </p:sp>
      <p:sp>
        <p:nvSpPr>
          <p:cNvPr id="10" name="Text 6"/>
          <p:cNvSpPr/>
          <p:nvPr/>
        </p:nvSpPr>
        <p:spPr>
          <a:xfrm>
            <a:off x="450056" y="1741289"/>
            <a:ext cx="8745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 pandas as pd</a:t>
            </a:r>
            <a:endParaRPr lang="en-US" sz="628" dirty="0"/>
          </a:p>
        </p:txBody>
      </p:sp>
      <p:sp>
        <p:nvSpPr>
          <p:cNvPr id="11" name="Text 7"/>
          <p:cNvSpPr/>
          <p:nvPr/>
        </p:nvSpPr>
        <p:spPr>
          <a:xfrm>
            <a:off x="450056" y="1998464"/>
            <a:ext cx="4205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讀取資料</a:t>
            </a:r>
            <a:endParaRPr lang="en-US" sz="628" dirty="0"/>
          </a:p>
        </p:txBody>
      </p:sp>
      <p:sp>
        <p:nvSpPr>
          <p:cNvPr id="12" name="Text 8"/>
          <p:cNvSpPr/>
          <p:nvPr/>
        </p:nvSpPr>
        <p:spPr>
          <a:xfrm>
            <a:off x="450056" y="2127052"/>
            <a:ext cx="16516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customers = pd.read_csv('customers.csv')</a:t>
            </a:r>
            <a:endParaRPr lang="en-US" sz="628" dirty="0"/>
          </a:p>
        </p:txBody>
      </p:sp>
      <p:sp>
        <p:nvSpPr>
          <p:cNvPr id="13" name="Text 9"/>
          <p:cNvSpPr/>
          <p:nvPr/>
        </p:nvSpPr>
        <p:spPr>
          <a:xfrm>
            <a:off x="450056" y="2255639"/>
            <a:ext cx="18008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transactions = pd.read_csv('transactions.csv')</a:t>
            </a:r>
            <a:endParaRPr lang="en-US" sz="628" dirty="0"/>
          </a:p>
        </p:txBody>
      </p:sp>
      <p:sp>
        <p:nvSpPr>
          <p:cNvPr id="14" name="Text 10"/>
          <p:cNvSpPr/>
          <p:nvPr/>
        </p:nvSpPr>
        <p:spPr>
          <a:xfrm>
            <a:off x="450056" y="2384227"/>
            <a:ext cx="152256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products = pd.read_csv('products.csv')</a:t>
            </a:r>
            <a:endParaRPr lang="en-US" sz="628" dirty="0"/>
          </a:p>
        </p:txBody>
      </p:sp>
      <p:sp>
        <p:nvSpPr>
          <p:cNvPr id="15" name="Text 11"/>
          <p:cNvSpPr/>
          <p:nvPr/>
        </p:nvSpPr>
        <p:spPr>
          <a:xfrm>
            <a:off x="450056" y="2641402"/>
            <a:ext cx="166256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第一步：整併 transactions 和 customers</a:t>
            </a:r>
            <a:endParaRPr lang="en-US" sz="628" dirty="0"/>
          </a:p>
        </p:txBody>
      </p:sp>
      <p:sp>
        <p:nvSpPr>
          <p:cNvPr id="16" name="Text 12"/>
          <p:cNvSpPr/>
          <p:nvPr/>
        </p:nvSpPr>
        <p:spPr>
          <a:xfrm>
            <a:off x="450056" y="2769989"/>
            <a:ext cx="297124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df1 = pd.merge(transactions, customers, on='customer_id', how='left')</a:t>
            </a:r>
            <a:endParaRPr lang="en-US" sz="628" dirty="0"/>
          </a:p>
        </p:txBody>
      </p:sp>
      <p:sp>
        <p:nvSpPr>
          <p:cNvPr id="17" name="Text 13"/>
          <p:cNvSpPr/>
          <p:nvPr/>
        </p:nvSpPr>
        <p:spPr>
          <a:xfrm>
            <a:off x="450056" y="3027164"/>
            <a:ext cx="10571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第二步：再整併 products</a:t>
            </a:r>
            <a:endParaRPr lang="en-US" sz="628" dirty="0"/>
          </a:p>
        </p:txBody>
      </p:sp>
      <p:sp>
        <p:nvSpPr>
          <p:cNvPr id="18" name="Text 14"/>
          <p:cNvSpPr/>
          <p:nvPr/>
        </p:nvSpPr>
        <p:spPr>
          <a:xfrm>
            <a:off x="450056" y="3155752"/>
            <a:ext cx="25607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df_full = pd.merge(df1, products, on='product_id', how='left')</a:t>
            </a:r>
            <a:endParaRPr lang="en-US" sz="628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593306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8638" y="3550444"/>
            <a:ext cx="1543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可以回答什麼問題？ 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285750" y="3879056"/>
            <a:ext cx="4214813" cy="1157288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535781" y="3993356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誰買了什麼？</a:t>
            </a:r>
            <a:endParaRPr lang="en-US" sz="837" dirty="0"/>
          </a:p>
        </p:txBody>
      </p:sp>
      <p:sp>
        <p:nvSpPr>
          <p:cNvPr id="23" name="Text 18"/>
          <p:cNvSpPr/>
          <p:nvPr/>
        </p:nvSpPr>
        <p:spPr>
          <a:xfrm>
            <a:off x="1221581" y="3993356"/>
            <a:ext cx="11249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客戶姓名與購買商品</a:t>
            </a:r>
            <a:endParaRPr lang="en-US" sz="837" dirty="0"/>
          </a:p>
        </p:txBody>
      </p:sp>
      <p:sp>
        <p:nvSpPr>
          <p:cNvPr id="24" name="Text 19"/>
          <p:cNvSpPr/>
          <p:nvPr/>
        </p:nvSpPr>
        <p:spPr>
          <a:xfrm>
            <a:off x="535781" y="4164806"/>
            <a:ext cx="571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什麼時候？</a:t>
            </a:r>
            <a:endParaRPr lang="en-US" sz="837" dirty="0"/>
          </a:p>
        </p:txBody>
      </p:sp>
      <p:sp>
        <p:nvSpPr>
          <p:cNvPr id="25" name="Text 20"/>
          <p:cNvSpPr/>
          <p:nvPr/>
        </p:nvSpPr>
        <p:spPr>
          <a:xfrm>
            <a:off x="1107281" y="4164806"/>
            <a:ext cx="7820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交易時間分析</a:t>
            </a:r>
            <a:endParaRPr lang="en-US" sz="837" dirty="0"/>
          </a:p>
        </p:txBody>
      </p:sp>
      <p:sp>
        <p:nvSpPr>
          <p:cNvPr id="26" name="Text 21"/>
          <p:cNvSpPr/>
          <p:nvPr/>
        </p:nvSpPr>
        <p:spPr>
          <a:xfrm>
            <a:off x="2564606" y="3993356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多少錢？</a:t>
            </a:r>
            <a:endParaRPr lang="en-US" sz="837" dirty="0"/>
          </a:p>
        </p:txBody>
      </p:sp>
      <p:sp>
        <p:nvSpPr>
          <p:cNvPr id="27" name="Text 22"/>
          <p:cNvSpPr/>
          <p:nvPr/>
        </p:nvSpPr>
        <p:spPr>
          <a:xfrm>
            <a:off x="3021806" y="3993356"/>
            <a:ext cx="7820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消費金額統計</a:t>
            </a:r>
            <a:endParaRPr lang="en-US" sz="837" dirty="0"/>
          </a:p>
        </p:txBody>
      </p:sp>
      <p:sp>
        <p:nvSpPr>
          <p:cNvPr id="28" name="Text 23"/>
          <p:cNvSpPr/>
          <p:nvPr/>
        </p:nvSpPr>
        <p:spPr>
          <a:xfrm>
            <a:off x="2564606" y="4164806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年齡？性別？</a:t>
            </a:r>
            <a:endParaRPr lang="en-US" sz="837" dirty="0"/>
          </a:p>
        </p:txBody>
      </p:sp>
      <p:sp>
        <p:nvSpPr>
          <p:cNvPr id="29" name="Text 24"/>
          <p:cNvSpPr/>
          <p:nvPr/>
        </p:nvSpPr>
        <p:spPr>
          <a:xfrm>
            <a:off x="3250406" y="4164806"/>
            <a:ext cx="7820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客戶特徵分析</a:t>
            </a:r>
            <a:endParaRPr lang="en-US" sz="837" dirty="0"/>
          </a:p>
        </p:txBody>
      </p:sp>
      <p:sp>
        <p:nvSpPr>
          <p:cNvPr id="30" name="Text 25"/>
          <p:cNvSpPr/>
          <p:nvPr/>
        </p:nvSpPr>
        <p:spPr>
          <a:xfrm>
            <a:off x="392906" y="4414838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進階分析範例：</a:t>
            </a:r>
            <a:endParaRPr lang="en-US" sz="837" dirty="0"/>
          </a:p>
        </p:txBody>
      </p:sp>
      <p:sp>
        <p:nvSpPr>
          <p:cNvPr id="31" name="Text 26"/>
          <p:cNvSpPr/>
          <p:nvPr/>
        </p:nvSpPr>
        <p:spPr>
          <a:xfrm>
            <a:off x="535781" y="4586288"/>
            <a:ext cx="1828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不同年齡層的消費偏好</a:t>
            </a:r>
            <a:endParaRPr lang="en-US" sz="837" dirty="0"/>
          </a:p>
        </p:txBody>
      </p:sp>
      <p:sp>
        <p:nvSpPr>
          <p:cNvPr id="32" name="Text 27"/>
          <p:cNvSpPr/>
          <p:nvPr/>
        </p:nvSpPr>
        <p:spPr>
          <a:xfrm>
            <a:off x="535781" y="4757738"/>
            <a:ext cx="1828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不同性別的購買商品類別差異</a:t>
            </a:r>
            <a:endParaRPr lang="en-US" sz="837" dirty="0"/>
          </a:p>
        </p:txBody>
      </p:sp>
      <p:sp>
        <p:nvSpPr>
          <p:cNvPr id="33" name="Text 28"/>
          <p:cNvSpPr/>
          <p:nvPr/>
        </p:nvSpPr>
        <p:spPr>
          <a:xfrm>
            <a:off x="2564606" y="4586288"/>
            <a:ext cx="1828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高價值客戶的特徵分析</a:t>
            </a:r>
            <a:endParaRPr lang="en-US" sz="837" dirty="0"/>
          </a:p>
        </p:txBody>
      </p:sp>
      <p:sp>
        <p:nvSpPr>
          <p:cNvPr id="34" name="Text 29"/>
          <p:cNvSpPr/>
          <p:nvPr/>
        </p:nvSpPr>
        <p:spPr>
          <a:xfrm>
            <a:off x="2564606" y="4757738"/>
            <a:ext cx="1828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熱門商品的客戶群特徵</a:t>
            </a:r>
            <a:endParaRPr lang="en-US" sz="837" dirty="0"/>
          </a:p>
        </p:txBody>
      </p:sp>
      <p:sp>
        <p:nvSpPr>
          <p:cNvPr id="36" name="Shape 30"/>
          <p:cNvSpPr/>
          <p:nvPr/>
        </p:nvSpPr>
        <p:spPr>
          <a:xfrm>
            <a:off x="4643438" y="1603772"/>
            <a:ext cx="4214813" cy="3021806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594" y="1753791"/>
            <a:ext cx="171450" cy="17145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993481" y="1710928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整併結果預覽 </a:t>
            </a:r>
            <a:endParaRPr lang="en-US" sz="1350" dirty="0"/>
          </a:p>
        </p:txBody>
      </p:sp>
      <p:sp>
        <p:nvSpPr>
          <p:cNvPr id="39" name="Shape 32"/>
          <p:cNvSpPr/>
          <p:nvPr/>
        </p:nvSpPr>
        <p:spPr>
          <a:xfrm>
            <a:off x="4750594" y="2039541"/>
            <a:ext cx="930111" cy="20002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0" name="Text 33"/>
          <p:cNvSpPr/>
          <p:nvPr/>
        </p:nvSpPr>
        <p:spPr>
          <a:xfrm>
            <a:off x="4750594" y="2039541"/>
            <a:ext cx="930111" cy="200025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transaction_id</a:t>
            </a:r>
            <a:endParaRPr lang="en-US" sz="628" dirty="0"/>
          </a:p>
        </p:txBody>
      </p:sp>
      <p:sp>
        <p:nvSpPr>
          <p:cNvPr id="41" name="Shape 34"/>
          <p:cNvSpPr/>
          <p:nvPr/>
        </p:nvSpPr>
        <p:spPr>
          <a:xfrm>
            <a:off x="5680704" y="2039541"/>
            <a:ext cx="811736" cy="20002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2" name="Text 35"/>
          <p:cNvSpPr/>
          <p:nvPr/>
        </p:nvSpPr>
        <p:spPr>
          <a:xfrm>
            <a:off x="5680704" y="2039541"/>
            <a:ext cx="811736" cy="200025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customer_id</a:t>
            </a:r>
            <a:endParaRPr lang="en-US" sz="628" dirty="0"/>
          </a:p>
        </p:txBody>
      </p:sp>
      <p:sp>
        <p:nvSpPr>
          <p:cNvPr id="43" name="Shape 36"/>
          <p:cNvSpPr/>
          <p:nvPr/>
        </p:nvSpPr>
        <p:spPr>
          <a:xfrm>
            <a:off x="6492441" y="2039541"/>
            <a:ext cx="448996" cy="20002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4" name="Text 37"/>
          <p:cNvSpPr/>
          <p:nvPr/>
        </p:nvSpPr>
        <p:spPr>
          <a:xfrm>
            <a:off x="6492441" y="2039541"/>
            <a:ext cx="448996" cy="200025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</a:t>
            </a:r>
            <a:endParaRPr lang="en-US" sz="628" dirty="0"/>
          </a:p>
        </p:txBody>
      </p:sp>
      <p:sp>
        <p:nvSpPr>
          <p:cNvPr id="45" name="Shape 38"/>
          <p:cNvSpPr/>
          <p:nvPr/>
        </p:nvSpPr>
        <p:spPr>
          <a:xfrm>
            <a:off x="6941437" y="2039541"/>
            <a:ext cx="311702" cy="20002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6" name="Text 39"/>
          <p:cNvSpPr/>
          <p:nvPr/>
        </p:nvSpPr>
        <p:spPr>
          <a:xfrm>
            <a:off x="6941437" y="2039541"/>
            <a:ext cx="311702" cy="200025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</a:t>
            </a:r>
            <a:endParaRPr lang="en-US" sz="628" dirty="0"/>
          </a:p>
        </p:txBody>
      </p:sp>
      <p:sp>
        <p:nvSpPr>
          <p:cNvPr id="47" name="Shape 40"/>
          <p:cNvSpPr/>
          <p:nvPr/>
        </p:nvSpPr>
        <p:spPr>
          <a:xfrm>
            <a:off x="7253139" y="2039541"/>
            <a:ext cx="937282" cy="20002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8" name="Text 41"/>
          <p:cNvSpPr/>
          <p:nvPr/>
        </p:nvSpPr>
        <p:spPr>
          <a:xfrm>
            <a:off x="7253139" y="2039541"/>
            <a:ext cx="937282" cy="200025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product_name</a:t>
            </a:r>
            <a:endParaRPr lang="en-US" sz="628" dirty="0"/>
          </a:p>
        </p:txBody>
      </p:sp>
      <p:sp>
        <p:nvSpPr>
          <p:cNvPr id="49" name="Shape 42"/>
          <p:cNvSpPr/>
          <p:nvPr/>
        </p:nvSpPr>
        <p:spPr>
          <a:xfrm>
            <a:off x="8190421" y="2039541"/>
            <a:ext cx="560673" cy="20002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0" name="Text 43"/>
          <p:cNvSpPr/>
          <p:nvPr/>
        </p:nvSpPr>
        <p:spPr>
          <a:xfrm>
            <a:off x="8190421" y="2039541"/>
            <a:ext cx="560673" cy="200025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amount</a:t>
            </a:r>
            <a:endParaRPr lang="en-US" sz="628" dirty="0"/>
          </a:p>
        </p:txBody>
      </p:sp>
      <p:sp>
        <p:nvSpPr>
          <p:cNvPr id="51" name="Text 44"/>
          <p:cNvSpPr/>
          <p:nvPr/>
        </p:nvSpPr>
        <p:spPr>
          <a:xfrm>
            <a:off x="4750594" y="2239566"/>
            <a:ext cx="930111" cy="189309"/>
          </a:xfrm>
          <a:prstGeom prst="rect">
            <a:avLst/>
          </a:prstGeom>
          <a:noFill/>
          <a:ln/>
        </p:spPr>
        <p:txBody>
          <a:bodyPr wrap="non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T1001</a:t>
            </a:r>
            <a:endParaRPr lang="en-US" sz="628" dirty="0"/>
          </a:p>
        </p:txBody>
      </p:sp>
      <p:sp>
        <p:nvSpPr>
          <p:cNvPr id="52" name="Text 45"/>
          <p:cNvSpPr/>
          <p:nvPr/>
        </p:nvSpPr>
        <p:spPr>
          <a:xfrm>
            <a:off x="5680704" y="2239566"/>
            <a:ext cx="811736" cy="189309"/>
          </a:xfrm>
          <a:prstGeom prst="rect">
            <a:avLst/>
          </a:prstGeom>
          <a:noFill/>
          <a:ln/>
        </p:spPr>
        <p:txBody>
          <a:bodyPr wrap="non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C001</a:t>
            </a:r>
            <a:endParaRPr lang="en-US" sz="628" dirty="0"/>
          </a:p>
        </p:txBody>
      </p:sp>
      <p:sp>
        <p:nvSpPr>
          <p:cNvPr id="53" name="Text 46"/>
          <p:cNvSpPr/>
          <p:nvPr/>
        </p:nvSpPr>
        <p:spPr>
          <a:xfrm>
            <a:off x="6492441" y="2239566"/>
            <a:ext cx="448996" cy="189309"/>
          </a:xfrm>
          <a:prstGeom prst="rect">
            <a:avLst/>
          </a:prstGeom>
          <a:noFill/>
          <a:ln/>
        </p:spPr>
        <p:txBody>
          <a:bodyPr wrap="non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王小明</a:t>
            </a:r>
            <a:endParaRPr lang="en-US" sz="628" dirty="0"/>
          </a:p>
        </p:txBody>
      </p:sp>
      <p:sp>
        <p:nvSpPr>
          <p:cNvPr id="54" name="Text 47"/>
          <p:cNvSpPr/>
          <p:nvPr/>
        </p:nvSpPr>
        <p:spPr>
          <a:xfrm>
            <a:off x="6941437" y="2239566"/>
            <a:ext cx="311702" cy="189309"/>
          </a:xfrm>
          <a:prstGeom prst="rect">
            <a:avLst/>
          </a:prstGeom>
          <a:noFill/>
          <a:ln/>
        </p:spPr>
        <p:txBody>
          <a:bodyPr wrap="non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</a:t>
            </a:r>
            <a:endParaRPr lang="en-US" sz="628" dirty="0"/>
          </a:p>
        </p:txBody>
      </p:sp>
      <p:sp>
        <p:nvSpPr>
          <p:cNvPr id="55" name="Text 48"/>
          <p:cNvSpPr/>
          <p:nvPr/>
        </p:nvSpPr>
        <p:spPr>
          <a:xfrm>
            <a:off x="7253139" y="2239566"/>
            <a:ext cx="937282" cy="189309"/>
          </a:xfrm>
          <a:prstGeom prst="rect">
            <a:avLst/>
          </a:prstGeom>
          <a:noFill/>
          <a:ln/>
        </p:spPr>
        <p:txBody>
          <a:bodyPr wrap="non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藍牙耳機</a:t>
            </a:r>
            <a:endParaRPr lang="en-US" sz="628" dirty="0"/>
          </a:p>
        </p:txBody>
      </p:sp>
      <p:sp>
        <p:nvSpPr>
          <p:cNvPr id="56" name="Text 49"/>
          <p:cNvSpPr/>
          <p:nvPr/>
        </p:nvSpPr>
        <p:spPr>
          <a:xfrm>
            <a:off x="8190421" y="2239566"/>
            <a:ext cx="560673" cy="189309"/>
          </a:xfrm>
          <a:prstGeom prst="rect">
            <a:avLst/>
          </a:prstGeom>
          <a:noFill/>
          <a:ln/>
        </p:spPr>
        <p:txBody>
          <a:bodyPr wrap="non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1200</a:t>
            </a:r>
            <a:endParaRPr lang="en-US" sz="628" dirty="0"/>
          </a:p>
        </p:txBody>
      </p:sp>
      <p:sp>
        <p:nvSpPr>
          <p:cNvPr id="57" name="Shape 50"/>
          <p:cNvSpPr/>
          <p:nvPr/>
        </p:nvSpPr>
        <p:spPr>
          <a:xfrm>
            <a:off x="4750594" y="2428875"/>
            <a:ext cx="4000500" cy="192881"/>
          </a:xfrm>
          <a:prstGeom prst="rect">
            <a:avLst/>
          </a:prstGeom>
          <a:solidFill>
            <a:srgbClr val="ECF0F1">
              <a:alpha val="50000"/>
            </a:srgbClr>
          </a:solidFill>
          <a:ln/>
        </p:spPr>
      </p:sp>
      <p:sp>
        <p:nvSpPr>
          <p:cNvPr id="58" name="Text 51"/>
          <p:cNvSpPr/>
          <p:nvPr/>
        </p:nvSpPr>
        <p:spPr>
          <a:xfrm>
            <a:off x="4750594" y="2428875"/>
            <a:ext cx="930111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T1002</a:t>
            </a:r>
            <a:endParaRPr lang="en-US" sz="628" dirty="0"/>
          </a:p>
        </p:txBody>
      </p:sp>
      <p:sp>
        <p:nvSpPr>
          <p:cNvPr id="59" name="Text 52"/>
          <p:cNvSpPr/>
          <p:nvPr/>
        </p:nvSpPr>
        <p:spPr>
          <a:xfrm>
            <a:off x="5680704" y="2428875"/>
            <a:ext cx="811736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C003</a:t>
            </a:r>
            <a:endParaRPr lang="en-US" sz="628" dirty="0"/>
          </a:p>
        </p:txBody>
      </p:sp>
      <p:sp>
        <p:nvSpPr>
          <p:cNvPr id="60" name="Text 53"/>
          <p:cNvSpPr/>
          <p:nvPr/>
        </p:nvSpPr>
        <p:spPr>
          <a:xfrm>
            <a:off x="6492441" y="2428875"/>
            <a:ext cx="448996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張小美</a:t>
            </a:r>
            <a:endParaRPr lang="en-US" sz="628" dirty="0"/>
          </a:p>
        </p:txBody>
      </p:sp>
      <p:sp>
        <p:nvSpPr>
          <p:cNvPr id="61" name="Text 54"/>
          <p:cNvSpPr/>
          <p:nvPr/>
        </p:nvSpPr>
        <p:spPr>
          <a:xfrm>
            <a:off x="6941437" y="2428875"/>
            <a:ext cx="311702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32</a:t>
            </a:r>
            <a:endParaRPr lang="en-US" sz="628" dirty="0"/>
          </a:p>
        </p:txBody>
      </p:sp>
      <p:sp>
        <p:nvSpPr>
          <p:cNvPr id="62" name="Text 55"/>
          <p:cNvSpPr/>
          <p:nvPr/>
        </p:nvSpPr>
        <p:spPr>
          <a:xfrm>
            <a:off x="7253139" y="2428875"/>
            <a:ext cx="937282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機械鍵盤</a:t>
            </a:r>
            <a:endParaRPr lang="en-US" sz="628" dirty="0"/>
          </a:p>
        </p:txBody>
      </p:sp>
      <p:sp>
        <p:nvSpPr>
          <p:cNvPr id="63" name="Text 56"/>
          <p:cNvSpPr/>
          <p:nvPr/>
        </p:nvSpPr>
        <p:spPr>
          <a:xfrm>
            <a:off x="8190421" y="2428875"/>
            <a:ext cx="560673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800</a:t>
            </a:r>
            <a:endParaRPr lang="en-US" sz="628" dirty="0"/>
          </a:p>
        </p:txBody>
      </p:sp>
      <p:sp>
        <p:nvSpPr>
          <p:cNvPr id="64" name="Text 57"/>
          <p:cNvSpPr/>
          <p:nvPr/>
        </p:nvSpPr>
        <p:spPr>
          <a:xfrm>
            <a:off x="4750594" y="2621756"/>
            <a:ext cx="930111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T1003</a:t>
            </a:r>
            <a:endParaRPr lang="en-US" sz="628" dirty="0"/>
          </a:p>
        </p:txBody>
      </p:sp>
      <p:sp>
        <p:nvSpPr>
          <p:cNvPr id="65" name="Text 58"/>
          <p:cNvSpPr/>
          <p:nvPr/>
        </p:nvSpPr>
        <p:spPr>
          <a:xfrm>
            <a:off x="5680704" y="2621756"/>
            <a:ext cx="811736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C002</a:t>
            </a:r>
            <a:endParaRPr lang="en-US" sz="628" dirty="0"/>
          </a:p>
        </p:txBody>
      </p:sp>
      <p:sp>
        <p:nvSpPr>
          <p:cNvPr id="66" name="Text 59"/>
          <p:cNvSpPr/>
          <p:nvPr/>
        </p:nvSpPr>
        <p:spPr>
          <a:xfrm>
            <a:off x="6492441" y="2621756"/>
            <a:ext cx="448996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李小華</a:t>
            </a:r>
            <a:endParaRPr lang="en-US" sz="628" dirty="0"/>
          </a:p>
        </p:txBody>
      </p:sp>
      <p:sp>
        <p:nvSpPr>
          <p:cNvPr id="67" name="Text 60"/>
          <p:cNvSpPr/>
          <p:nvPr/>
        </p:nvSpPr>
        <p:spPr>
          <a:xfrm>
            <a:off x="6941437" y="2621756"/>
            <a:ext cx="311702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28</a:t>
            </a:r>
            <a:endParaRPr lang="en-US" sz="628" dirty="0"/>
          </a:p>
        </p:txBody>
      </p:sp>
      <p:sp>
        <p:nvSpPr>
          <p:cNvPr id="68" name="Text 61"/>
          <p:cNvSpPr/>
          <p:nvPr/>
        </p:nvSpPr>
        <p:spPr>
          <a:xfrm>
            <a:off x="7253139" y="2621756"/>
            <a:ext cx="937282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筆記型電腦</a:t>
            </a:r>
            <a:endParaRPr lang="en-US" sz="628" dirty="0"/>
          </a:p>
        </p:txBody>
      </p:sp>
      <p:sp>
        <p:nvSpPr>
          <p:cNvPr id="69" name="Text 62"/>
          <p:cNvSpPr/>
          <p:nvPr/>
        </p:nvSpPr>
        <p:spPr>
          <a:xfrm>
            <a:off x="8190421" y="2621756"/>
            <a:ext cx="560673" cy="192881"/>
          </a:xfrm>
          <a:prstGeom prst="rect">
            <a:avLst/>
          </a:prstGeom>
          <a:noFill/>
          <a:ln/>
        </p:spPr>
        <p:txBody>
          <a:bodyPr wrap="square" lIns="42545" tIns="34036" rIns="42545" bIns="34036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1500</a:t>
            </a:r>
            <a:endParaRPr lang="en-US" sz="628" dirty="0"/>
          </a:p>
        </p:txBody>
      </p:sp>
      <p:pic>
        <p:nvPicPr>
          <p:cNvPr id="7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594" y="2946797"/>
            <a:ext cx="192881" cy="171450"/>
          </a:xfrm>
          <a:prstGeom prst="rect">
            <a:avLst/>
          </a:prstGeom>
        </p:spPr>
      </p:pic>
      <p:sp>
        <p:nvSpPr>
          <p:cNvPr id="71" name="Text 63"/>
          <p:cNvSpPr/>
          <p:nvPr/>
        </p:nvSpPr>
        <p:spPr>
          <a:xfrm>
            <a:off x="5014913" y="2903934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資料分析範例 </a:t>
            </a:r>
            <a:endParaRPr lang="en-US" sz="1350" dirty="0"/>
          </a:p>
        </p:txBody>
      </p:sp>
      <p:pic>
        <p:nvPicPr>
          <p:cNvPr id="7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594" y="3232547"/>
            <a:ext cx="4000500" cy="1285875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7300913" y="5207794"/>
            <a:ext cx="170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第二堂課：資料操作、資料清理與整併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282319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29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3233217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練習5：試著整併後回答問題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50119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8638" y="907256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練習目標 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285750" y="1235869"/>
            <a:ext cx="4214813" cy="12858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392906" y="1343025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整併三個資料表（Transactions + Customers + Products），並回答以下問題：</a:t>
            </a:r>
            <a:endParaRPr lang="en-US" sz="837" dirty="0"/>
          </a:p>
        </p:txBody>
      </p:sp>
      <p:sp>
        <p:nvSpPr>
          <p:cNvPr id="8" name="Shape 4"/>
          <p:cNvSpPr/>
          <p:nvPr/>
        </p:nvSpPr>
        <p:spPr>
          <a:xfrm>
            <a:off x="392906" y="1514475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5"/>
          <p:cNvSpPr/>
          <p:nvPr/>
        </p:nvSpPr>
        <p:spPr>
          <a:xfrm>
            <a:off x="392906" y="15144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664369" y="1514475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哪一個年齡層購買頻率最高？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664369" y="1707356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分析不同年齡層的購買次數，找出購買頻率最高的年齡層。</a:t>
            </a:r>
            <a:endParaRPr lang="en-US" sz="837" dirty="0"/>
          </a:p>
        </p:txBody>
      </p:sp>
      <p:sp>
        <p:nvSpPr>
          <p:cNvPr id="12" name="Shape 8"/>
          <p:cNvSpPr/>
          <p:nvPr/>
        </p:nvSpPr>
        <p:spPr>
          <a:xfrm>
            <a:off x="392906" y="1964531"/>
            <a:ext cx="200025" cy="20002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3" name="Text 9"/>
          <p:cNvSpPr/>
          <p:nvPr/>
        </p:nvSpPr>
        <p:spPr>
          <a:xfrm>
            <a:off x="392906" y="196453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4" name="Text 10"/>
          <p:cNvSpPr/>
          <p:nvPr/>
        </p:nvSpPr>
        <p:spPr>
          <a:xfrm>
            <a:off x="664369" y="1964531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有哪些商品類別被購買金額最高？</a:t>
            </a:r>
            <a:endParaRPr lang="en-US" sz="837" dirty="0"/>
          </a:p>
        </p:txBody>
      </p:sp>
      <p:sp>
        <p:nvSpPr>
          <p:cNvPr id="15" name="Text 11"/>
          <p:cNvSpPr/>
          <p:nvPr/>
        </p:nvSpPr>
        <p:spPr>
          <a:xfrm>
            <a:off x="664369" y="2157413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計算各商品類別的總購買金額，找出最受歡迎的商品類別。</a:t>
            </a:r>
            <a:endParaRPr lang="en-US" sz="837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671763"/>
            <a:ext cx="214313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1500" y="2628900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實作提示 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285750" y="2957513"/>
            <a:ext cx="4214813" cy="2078831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392906" y="3064669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問題1：哪一個年齡層購買頻率最高？</a:t>
            </a:r>
            <a:endParaRPr lang="en-US" sz="837" dirty="0"/>
          </a:p>
        </p:txBody>
      </p:sp>
      <p:sp>
        <p:nvSpPr>
          <p:cNvPr id="20" name="Shape 15"/>
          <p:cNvSpPr/>
          <p:nvPr/>
        </p:nvSpPr>
        <p:spPr>
          <a:xfrm>
            <a:off x="392906" y="3271838"/>
            <a:ext cx="4000500" cy="165735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1" name="Text 16"/>
          <p:cNvSpPr/>
          <p:nvPr/>
        </p:nvSpPr>
        <p:spPr>
          <a:xfrm>
            <a:off x="450056" y="3334345"/>
            <a:ext cx="4205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整併資料</a:t>
            </a:r>
            <a:endParaRPr lang="en-US" sz="628" dirty="0"/>
          </a:p>
        </p:txBody>
      </p:sp>
      <p:sp>
        <p:nvSpPr>
          <p:cNvPr id="22" name="Text 17"/>
          <p:cNvSpPr/>
          <p:nvPr/>
        </p:nvSpPr>
        <p:spPr>
          <a:xfrm>
            <a:off x="450056" y="3462933"/>
            <a:ext cx="245089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 = pd.merge(transactions, customers, on='customer_id')</a:t>
            </a:r>
            <a:endParaRPr lang="en-US" sz="628" dirty="0"/>
          </a:p>
        </p:txBody>
      </p:sp>
      <p:sp>
        <p:nvSpPr>
          <p:cNvPr id="23" name="Text 18"/>
          <p:cNvSpPr/>
          <p:nvPr/>
        </p:nvSpPr>
        <p:spPr>
          <a:xfrm>
            <a:off x="450056" y="3720108"/>
            <a:ext cx="5063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定義年齡層</a:t>
            </a:r>
            <a:endParaRPr lang="en-US" sz="628" dirty="0"/>
          </a:p>
        </p:txBody>
      </p:sp>
      <p:sp>
        <p:nvSpPr>
          <p:cNvPr id="24" name="Text 19"/>
          <p:cNvSpPr/>
          <p:nvPr/>
        </p:nvSpPr>
        <p:spPr>
          <a:xfrm>
            <a:off x="450056" y="3848695"/>
            <a:ext cx="84673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 age_group(age):</a:t>
            </a:r>
            <a:endParaRPr lang="en-US" sz="628" dirty="0"/>
          </a:p>
        </p:txBody>
      </p:sp>
      <p:sp>
        <p:nvSpPr>
          <p:cNvPr id="25" name="Text 20"/>
          <p:cNvSpPr/>
          <p:nvPr/>
        </p:nvSpPr>
        <p:spPr>
          <a:xfrm>
            <a:off x="450056" y="3977283"/>
            <a:ext cx="11307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age &lt; 30: return '20-29歲'</a:t>
            </a:r>
            <a:endParaRPr lang="en-US" sz="628" dirty="0"/>
          </a:p>
        </p:txBody>
      </p:sp>
      <p:sp>
        <p:nvSpPr>
          <p:cNvPr id="26" name="Text 21"/>
          <p:cNvSpPr/>
          <p:nvPr/>
        </p:nvSpPr>
        <p:spPr>
          <a:xfrm>
            <a:off x="450056" y="4105870"/>
            <a:ext cx="12075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elif age &lt; 40: return '30-39歲'</a:t>
            </a:r>
            <a:endParaRPr lang="en-US" sz="628" dirty="0"/>
          </a:p>
        </p:txBody>
      </p:sp>
      <p:sp>
        <p:nvSpPr>
          <p:cNvPr id="27" name="Text 22"/>
          <p:cNvSpPr/>
          <p:nvPr/>
        </p:nvSpPr>
        <p:spPr>
          <a:xfrm>
            <a:off x="450056" y="4234458"/>
            <a:ext cx="9165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else: return '40歲以上'</a:t>
            </a:r>
            <a:endParaRPr lang="en-US" sz="628" dirty="0"/>
          </a:p>
        </p:txBody>
      </p:sp>
      <p:sp>
        <p:nvSpPr>
          <p:cNvPr id="28" name="Text 23"/>
          <p:cNvSpPr/>
          <p:nvPr/>
        </p:nvSpPr>
        <p:spPr>
          <a:xfrm>
            <a:off x="450056" y="4491633"/>
            <a:ext cx="10206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計算各年齡層的購買次數</a:t>
            </a:r>
            <a:endParaRPr lang="en-US" sz="628" dirty="0"/>
          </a:p>
        </p:txBody>
      </p:sp>
      <p:sp>
        <p:nvSpPr>
          <p:cNvPr id="29" name="Text 24"/>
          <p:cNvSpPr/>
          <p:nvPr/>
        </p:nvSpPr>
        <p:spPr>
          <a:xfrm>
            <a:off x="450056" y="4620220"/>
            <a:ext cx="183323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df['age_group'] = df['age'].apply(age_group)</a:t>
            </a:r>
            <a:endParaRPr lang="en-US" sz="628" dirty="0"/>
          </a:p>
        </p:txBody>
      </p:sp>
      <p:sp>
        <p:nvSpPr>
          <p:cNvPr id="30" name="Text 25"/>
          <p:cNvSpPr/>
          <p:nvPr/>
        </p:nvSpPr>
        <p:spPr>
          <a:xfrm>
            <a:off x="450056" y="4748808"/>
            <a:ext cx="184875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age_counts = df['age_group'].value_counts()</a:t>
            </a:r>
            <a:endParaRPr lang="en-US" sz="628" dirty="0"/>
          </a:p>
        </p:txBody>
      </p:sp>
      <p:sp>
        <p:nvSpPr>
          <p:cNvPr id="32" name="Shape 26"/>
          <p:cNvSpPr/>
          <p:nvPr/>
        </p:nvSpPr>
        <p:spPr>
          <a:xfrm>
            <a:off x="4643438" y="1289447"/>
            <a:ext cx="4214813" cy="3650456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594" y="1439466"/>
            <a:ext cx="171450" cy="1714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993481" y="1396603"/>
            <a:ext cx="12001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預期結果視覺化 </a:t>
            </a:r>
            <a:endParaRPr lang="en-US" sz="135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594" y="1725216"/>
            <a:ext cx="4000500" cy="128587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750594" y="3096816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問題2：有哪些商品類別被購買金額最高？</a:t>
            </a:r>
            <a:endParaRPr lang="en-US" sz="837" dirty="0"/>
          </a:p>
        </p:txBody>
      </p:sp>
      <p:sp>
        <p:nvSpPr>
          <p:cNvPr id="37" name="Shape 29"/>
          <p:cNvSpPr/>
          <p:nvPr/>
        </p:nvSpPr>
        <p:spPr>
          <a:xfrm>
            <a:off x="4750594" y="3303984"/>
            <a:ext cx="4000500" cy="127158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8" name="Text 30"/>
          <p:cNvSpPr/>
          <p:nvPr/>
        </p:nvSpPr>
        <p:spPr>
          <a:xfrm>
            <a:off x="4807744" y="3366492"/>
            <a:ext cx="4205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整併三表</a:t>
            </a:r>
            <a:endParaRPr lang="en-US" sz="628" dirty="0"/>
          </a:p>
        </p:txBody>
      </p:sp>
      <p:sp>
        <p:nvSpPr>
          <p:cNvPr id="39" name="Text 31"/>
          <p:cNvSpPr/>
          <p:nvPr/>
        </p:nvSpPr>
        <p:spPr>
          <a:xfrm>
            <a:off x="4807744" y="3495080"/>
            <a:ext cx="79795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df_full = pd.merge(</a:t>
            </a:r>
            <a:endParaRPr lang="en-US" sz="628" dirty="0"/>
          </a:p>
        </p:txBody>
      </p:sp>
      <p:sp>
        <p:nvSpPr>
          <p:cNvPr id="40" name="Text 32"/>
          <p:cNvSpPr/>
          <p:nvPr/>
        </p:nvSpPr>
        <p:spPr>
          <a:xfrm>
            <a:off x="4807744" y="3623667"/>
            <a:ext cx="22942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pd.merge(transactions, customers, on='customer_id'),</a:t>
            </a:r>
            <a:endParaRPr lang="en-US" sz="628" dirty="0"/>
          </a:p>
        </p:txBody>
      </p:sp>
      <p:sp>
        <p:nvSpPr>
          <p:cNvPr id="41" name="Text 33"/>
          <p:cNvSpPr/>
          <p:nvPr/>
        </p:nvSpPr>
        <p:spPr>
          <a:xfrm>
            <a:off x="4807744" y="3752255"/>
            <a:ext cx="10792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products, on='product_id'</a:t>
            </a:r>
            <a:endParaRPr lang="en-US" sz="628" dirty="0"/>
          </a:p>
        </p:txBody>
      </p:sp>
      <p:sp>
        <p:nvSpPr>
          <p:cNvPr id="42" name="Text 34"/>
          <p:cNvSpPr/>
          <p:nvPr/>
        </p:nvSpPr>
        <p:spPr>
          <a:xfrm>
            <a:off x="4807744" y="3880842"/>
            <a:ext cx="290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</a:t>
            </a:r>
            <a:endParaRPr lang="en-US" sz="628" dirty="0"/>
          </a:p>
        </p:txBody>
      </p:sp>
      <p:sp>
        <p:nvSpPr>
          <p:cNvPr id="43" name="Text 35"/>
          <p:cNvSpPr/>
          <p:nvPr/>
        </p:nvSpPr>
        <p:spPr>
          <a:xfrm>
            <a:off x="4807744" y="4138017"/>
            <a:ext cx="11921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計算各商品類別的總購買金額</a:t>
            </a:r>
            <a:endParaRPr lang="en-US" sz="628" dirty="0"/>
          </a:p>
        </p:txBody>
      </p:sp>
      <p:sp>
        <p:nvSpPr>
          <p:cNvPr id="44" name="Text 36"/>
          <p:cNvSpPr/>
          <p:nvPr/>
        </p:nvSpPr>
        <p:spPr>
          <a:xfrm>
            <a:off x="4807744" y="4266605"/>
            <a:ext cx="26777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category_amount = df_full.groupby('category')['amount'].sum()</a:t>
            </a:r>
            <a:endParaRPr lang="en-US" sz="628" dirty="0"/>
          </a:p>
        </p:txBody>
      </p:sp>
      <p:sp>
        <p:nvSpPr>
          <p:cNvPr id="45" name="Text 37"/>
          <p:cNvSpPr/>
          <p:nvPr/>
        </p:nvSpPr>
        <p:spPr>
          <a:xfrm>
            <a:off x="4807744" y="4395192"/>
            <a:ext cx="28688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category_amount = category_amount.sort_values(ascending=False)</a:t>
            </a:r>
            <a:endParaRPr lang="en-US" sz="628" dirty="0"/>
          </a:p>
        </p:txBody>
      </p:sp>
      <p:sp>
        <p:nvSpPr>
          <p:cNvPr id="46" name="Text 38"/>
          <p:cNvSpPr/>
          <p:nvPr/>
        </p:nvSpPr>
        <p:spPr>
          <a:xfrm>
            <a:off x="4750594" y="4661297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完成後，與小組討論你的發現</a:t>
            </a:r>
            <a:endParaRPr lang="en-US" sz="837" dirty="0"/>
          </a:p>
        </p:txBody>
      </p:sp>
      <p:sp>
        <p:nvSpPr>
          <p:cNvPr id="47" name="Text 39"/>
          <p:cNvSpPr/>
          <p:nvPr/>
        </p:nvSpPr>
        <p:spPr>
          <a:xfrm>
            <a:off x="7300913" y="5207794"/>
            <a:ext cx="170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第二堂課：資料操作、資料清理與整併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11690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3086128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回顧今天課程三個核心概念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907256"/>
            <a:ext cx="357188" cy="35718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19" y="1000125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0094" y="907256"/>
            <a:ext cx="3750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資料處理不是只有查詢，要會清理與整併</a:t>
            </a:r>
            <a:endParaRPr lang="en-US" sz="1046" dirty="0"/>
          </a:p>
        </p:txBody>
      </p:sp>
      <p:sp>
        <p:nvSpPr>
          <p:cNvPr id="7" name="Text 3"/>
          <p:cNvSpPr/>
          <p:nvPr/>
        </p:nvSpPr>
        <p:spPr>
          <a:xfrm>
            <a:off x="750094" y="1157288"/>
            <a:ext cx="37504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資料分析的完整流程包含：資料獲取 → 資料清理 → 資料整併 → 資料分析 → 結果呈現。其中，清理與整併是確保分析結果可靠性的關鍵步驟，不能忽略。</a:t>
            </a:r>
            <a:endParaRPr lang="en-US" sz="837" dirty="0"/>
          </a:p>
        </p:txBody>
      </p:sp>
      <p:sp>
        <p:nvSpPr>
          <p:cNvPr id="8" name="Shape 4"/>
          <p:cNvSpPr/>
          <p:nvPr/>
        </p:nvSpPr>
        <p:spPr>
          <a:xfrm>
            <a:off x="750094" y="1707356"/>
            <a:ext cx="771079" cy="212527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5"/>
          <p:cNvSpPr/>
          <p:nvPr/>
        </p:nvSpPr>
        <p:spPr>
          <a:xfrm>
            <a:off x="750094" y="1707356"/>
            <a:ext cx="771079" cy="21252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查詢 (Query)</a:t>
            </a:r>
            <a:endParaRPr lang="en-US" sz="837" dirty="0"/>
          </a:p>
        </p:txBody>
      </p:sp>
      <p:sp>
        <p:nvSpPr>
          <p:cNvPr id="10" name="Shape 6"/>
          <p:cNvSpPr/>
          <p:nvPr/>
        </p:nvSpPr>
        <p:spPr>
          <a:xfrm>
            <a:off x="1608041" y="1707356"/>
            <a:ext cx="742169" cy="212527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Text 7"/>
          <p:cNvSpPr/>
          <p:nvPr/>
        </p:nvSpPr>
        <p:spPr>
          <a:xfrm>
            <a:off x="1608041" y="1707356"/>
            <a:ext cx="742169" cy="21252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清理 (Clean)</a:t>
            </a:r>
            <a:endParaRPr lang="en-US" sz="837" dirty="0"/>
          </a:p>
        </p:txBody>
      </p:sp>
      <p:sp>
        <p:nvSpPr>
          <p:cNvPr id="12" name="Shape 8"/>
          <p:cNvSpPr/>
          <p:nvPr/>
        </p:nvSpPr>
        <p:spPr>
          <a:xfrm>
            <a:off x="2437079" y="1707356"/>
            <a:ext cx="641682" cy="212527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Text 9"/>
          <p:cNvSpPr/>
          <p:nvPr/>
        </p:nvSpPr>
        <p:spPr>
          <a:xfrm>
            <a:off x="2437079" y="1707356"/>
            <a:ext cx="641682" cy="21252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 (Join)</a:t>
            </a:r>
            <a:endParaRPr lang="en-US" sz="837" dirty="0"/>
          </a:p>
        </p:txBody>
      </p:sp>
      <p:sp>
        <p:nvSpPr>
          <p:cNvPr id="14" name="Shape 10"/>
          <p:cNvSpPr/>
          <p:nvPr/>
        </p:nvSpPr>
        <p:spPr>
          <a:xfrm>
            <a:off x="285750" y="2043113"/>
            <a:ext cx="357188" cy="35718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8" y="2135981"/>
            <a:ext cx="214313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0094" y="2043113"/>
            <a:ext cx="3750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清理資料時要小心遺漏與異常</a:t>
            </a:r>
            <a:endParaRPr lang="en-US" sz="1046" dirty="0"/>
          </a:p>
        </p:txBody>
      </p:sp>
      <p:sp>
        <p:nvSpPr>
          <p:cNvPr id="17" name="Text 12"/>
          <p:cNvSpPr/>
          <p:nvPr/>
        </p:nvSpPr>
        <p:spPr>
          <a:xfrm>
            <a:off x="750094" y="2293144"/>
            <a:ext cx="37504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資料清理的重點工作包括：處理缺值 (Nulls)、處理異常值 (Outliers)、統一格式 (Format)。清理不當可能導致分析結果失真，記住「垃圾進，垃圾出」(Garbage in, Garbage out) 的原則。</a:t>
            </a:r>
            <a:endParaRPr lang="en-US" sz="837" dirty="0"/>
          </a:p>
        </p:txBody>
      </p:sp>
      <p:sp>
        <p:nvSpPr>
          <p:cNvPr id="18" name="Shape 13"/>
          <p:cNvSpPr/>
          <p:nvPr/>
        </p:nvSpPr>
        <p:spPr>
          <a:xfrm>
            <a:off x="750094" y="2843213"/>
            <a:ext cx="571500" cy="212527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9" name="Text 14"/>
          <p:cNvSpPr/>
          <p:nvPr/>
        </p:nvSpPr>
        <p:spPr>
          <a:xfrm>
            <a:off x="750094" y="2843213"/>
            <a:ext cx="571500" cy="21252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9240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缺值處理</a:t>
            </a:r>
            <a:endParaRPr lang="en-US" sz="837" dirty="0"/>
          </a:p>
        </p:txBody>
      </p:sp>
      <p:sp>
        <p:nvSpPr>
          <p:cNvPr id="20" name="Shape 15"/>
          <p:cNvSpPr/>
          <p:nvPr/>
        </p:nvSpPr>
        <p:spPr>
          <a:xfrm>
            <a:off x="1408463" y="2843213"/>
            <a:ext cx="685800" cy="212527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6"/>
          <p:cNvSpPr/>
          <p:nvPr/>
        </p:nvSpPr>
        <p:spPr>
          <a:xfrm>
            <a:off x="1408463" y="2843213"/>
            <a:ext cx="685800" cy="21252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9240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異常值處理</a:t>
            </a:r>
            <a:endParaRPr lang="en-US" sz="837" dirty="0"/>
          </a:p>
        </p:txBody>
      </p:sp>
      <p:sp>
        <p:nvSpPr>
          <p:cNvPr id="22" name="Shape 17"/>
          <p:cNvSpPr/>
          <p:nvPr/>
        </p:nvSpPr>
        <p:spPr>
          <a:xfrm>
            <a:off x="2181132" y="2843213"/>
            <a:ext cx="571500" cy="212527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3" name="Text 18"/>
          <p:cNvSpPr/>
          <p:nvPr/>
        </p:nvSpPr>
        <p:spPr>
          <a:xfrm>
            <a:off x="2181132" y="2843213"/>
            <a:ext cx="571500" cy="21252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9240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格式統一</a:t>
            </a:r>
            <a:endParaRPr lang="en-US" sz="837" dirty="0"/>
          </a:p>
        </p:txBody>
      </p:sp>
      <p:sp>
        <p:nvSpPr>
          <p:cNvPr id="24" name="Shape 19"/>
          <p:cNvSpPr/>
          <p:nvPr/>
        </p:nvSpPr>
        <p:spPr>
          <a:xfrm>
            <a:off x="285750" y="3178969"/>
            <a:ext cx="357188" cy="35718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19" y="3271838"/>
            <a:ext cx="171450" cy="1714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0094" y="3178969"/>
            <a:ext cx="3750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整併資料才能回答真正的商業問題</a:t>
            </a:r>
            <a:endParaRPr lang="en-US" sz="1046" dirty="0"/>
          </a:p>
        </p:txBody>
      </p:sp>
      <p:sp>
        <p:nvSpPr>
          <p:cNvPr id="27" name="Text 21"/>
          <p:cNvSpPr/>
          <p:nvPr/>
        </p:nvSpPr>
        <p:spPr>
          <a:xfrm>
            <a:off x="750094" y="3429000"/>
            <a:ext cx="37504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大多數有價值的商業問題需要從多個資料表中獲取資訊才能回答。透過 JOIN 或 merge() 等操作，將分散在不同表格的資料整合在一起，才能進行全面的分析。</a:t>
            </a:r>
            <a:endParaRPr lang="en-US" sz="837" dirty="0"/>
          </a:p>
        </p:txBody>
      </p:sp>
      <p:sp>
        <p:nvSpPr>
          <p:cNvPr id="28" name="Shape 22"/>
          <p:cNvSpPr/>
          <p:nvPr/>
        </p:nvSpPr>
        <p:spPr>
          <a:xfrm>
            <a:off x="750094" y="3979069"/>
            <a:ext cx="737257" cy="212527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9" name="Text 23"/>
          <p:cNvSpPr/>
          <p:nvPr/>
        </p:nvSpPr>
        <p:spPr>
          <a:xfrm>
            <a:off x="750094" y="3979069"/>
            <a:ext cx="737257" cy="21252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INNER JOIN</a:t>
            </a:r>
            <a:endParaRPr lang="en-US" sz="837" dirty="0"/>
          </a:p>
        </p:txBody>
      </p:sp>
      <p:sp>
        <p:nvSpPr>
          <p:cNvPr id="30" name="Shape 24"/>
          <p:cNvSpPr/>
          <p:nvPr/>
        </p:nvSpPr>
        <p:spPr>
          <a:xfrm>
            <a:off x="1574220" y="3979069"/>
            <a:ext cx="636436" cy="212527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1" name="Text 25"/>
          <p:cNvSpPr/>
          <p:nvPr/>
        </p:nvSpPr>
        <p:spPr>
          <a:xfrm>
            <a:off x="1574220" y="3979069"/>
            <a:ext cx="636436" cy="21252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LEFT JOIN</a:t>
            </a:r>
            <a:endParaRPr lang="en-US" sz="837" dirty="0"/>
          </a:p>
        </p:txBody>
      </p:sp>
      <p:sp>
        <p:nvSpPr>
          <p:cNvPr id="32" name="Shape 26"/>
          <p:cNvSpPr/>
          <p:nvPr/>
        </p:nvSpPr>
        <p:spPr>
          <a:xfrm>
            <a:off x="2297525" y="3979069"/>
            <a:ext cx="571500" cy="212527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3" name="Text 27"/>
          <p:cNvSpPr/>
          <p:nvPr/>
        </p:nvSpPr>
        <p:spPr>
          <a:xfrm>
            <a:off x="2297525" y="3979069"/>
            <a:ext cx="571500" cy="21252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跨表分析</a:t>
            </a:r>
            <a:endParaRPr lang="en-US" sz="837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3644" y="1521619"/>
            <a:ext cx="914400" cy="17145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4643438" y="1807369"/>
            <a:ext cx="4214813" cy="2328863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594" y="1957388"/>
            <a:ext cx="128588" cy="17145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950619" y="1914525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實務應用 </a:t>
            </a:r>
            <a:endParaRPr lang="en-US" sz="135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0594" y="2243138"/>
            <a:ext cx="4000500" cy="178593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300913" y="4922044"/>
            <a:ext cx="170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第二堂課：資料操作、資料清理與整併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76734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29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問題引導（小組討論）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1218092"/>
            <a:ext cx="4179094" cy="2936081"/>
          </a:xfrm>
          <a:prstGeom prst="rect">
            <a:avLst/>
          </a:prstGeom>
          <a:solidFill>
            <a:srgbClr val="ECF0F1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4" y="1425260"/>
            <a:ext cx="250031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531" y="1396685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小組討論題目 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64344" y="1796735"/>
            <a:ext cx="38219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如果今天想分析「忠誠顧客特徵」，要整合哪些資料？ </a:t>
            </a:r>
            <a:endParaRPr lang="en-US" sz="1046" dirty="0"/>
          </a:p>
        </p:txBody>
      </p:sp>
      <p:sp>
        <p:nvSpPr>
          <p:cNvPr id="8" name="Shape 4"/>
          <p:cNvSpPr/>
          <p:nvPr/>
        </p:nvSpPr>
        <p:spPr>
          <a:xfrm>
            <a:off x="464344" y="2168210"/>
            <a:ext cx="3821906" cy="1807369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Shape 5"/>
          <p:cNvSpPr/>
          <p:nvPr/>
        </p:nvSpPr>
        <p:spPr>
          <a:xfrm>
            <a:off x="464344" y="2168210"/>
            <a:ext cx="28575" cy="180736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2275367"/>
            <a:ext cx="36075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思考方向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571500" y="2539685"/>
            <a:ext cx="36075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忠誠顧客通常可以從購買頻率、購買金額和最近一次購買時間來定義。思考需要哪些資料表和欄位來計算這些指標。 </a:t>
            </a:r>
            <a:endParaRPr lang="en-US" sz="83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982598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0113" y="2954023"/>
            <a:ext cx="914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需要哪些資料表？</a:t>
            </a:r>
            <a:endParaRPr lang="en-US" sz="83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211198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0113" y="3182623"/>
            <a:ext cx="8001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需要哪些欄位？</a:t>
            </a:r>
            <a:endParaRPr lang="en-US" sz="837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439798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0113" y="3411223"/>
            <a:ext cx="1028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如何定義「忠誠」？</a:t>
            </a:r>
            <a:endParaRPr lang="en-US" sz="837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668398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00113" y="3639823"/>
            <a:ext cx="1028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如何整合這些資料？</a:t>
            </a:r>
            <a:endParaRPr lang="en-US" sz="837" dirty="0"/>
          </a:p>
        </p:txBody>
      </p:sp>
      <p:sp>
        <p:nvSpPr>
          <p:cNvPr id="20" name="Shape 12"/>
          <p:cNvSpPr/>
          <p:nvPr/>
        </p:nvSpPr>
        <p:spPr>
          <a:xfrm>
            <a:off x="4693444" y="2100263"/>
            <a:ext cx="4179094" cy="850106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21" name="Text 13"/>
          <p:cNvSpPr/>
          <p:nvPr/>
        </p:nvSpPr>
        <p:spPr>
          <a:xfrm>
            <a:off x="4836319" y="2243138"/>
            <a:ext cx="38933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下一堂課預告</a:t>
            </a:r>
            <a:endParaRPr lang="en-US" sz="1238" dirty="0"/>
          </a:p>
        </p:txBody>
      </p:sp>
      <p:sp>
        <p:nvSpPr>
          <p:cNvPr id="22" name="Text 14"/>
          <p:cNvSpPr/>
          <p:nvPr/>
        </p:nvSpPr>
        <p:spPr>
          <a:xfrm>
            <a:off x="4836319" y="2550320"/>
            <a:ext cx="38933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RFM 分析初體驗！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</TotalTime>
  <Words>1769</Words>
  <Application>Microsoft Office PowerPoint</Application>
  <PresentationFormat>如螢幕大小 (16:9)</PresentationFormat>
  <Paragraphs>539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Noto Sans</vt:lpstr>
      <vt:lpstr>新細明體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Wang, JC 王嘉群 (766)</cp:lastModifiedBy>
  <cp:revision>15</cp:revision>
  <dcterms:created xsi:type="dcterms:W3CDTF">2025-08-25T06:59:56Z</dcterms:created>
  <dcterms:modified xsi:type="dcterms:W3CDTF">2025-09-07T09:24:02Z</dcterms:modified>
</cp:coreProperties>
</file>